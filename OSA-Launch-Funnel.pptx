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459"/>
                </a:solidFill>
              </a:rPr>
              <a:t>Launch</a:t>
            </a:r>
            <a:r>
              <a:rPr sz="2600" b="1">
                <a:solidFill>
                  <a:srgbClr val="007EA7"/>
                </a:solidFill>
              </a:rPr>
              <a:t> &amp; Funnel Build-Up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Open Security Architecture · Go-to-Market Strategy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32688"/>
            <a:ext cx="8778011" cy="246888"/>
          </a:xfrm>
          <a:prstGeom prst="roundRect">
            <a:avLst/>
          </a:prstGeom>
          <a:solidFill>
            <a:srgbClr val="E0E6EB"/>
          </a:solidFill>
          <a:ln w="9525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8778011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459"/>
                </a:solidFill>
              </a:defRPr>
            </a:pPr>
            <a:r>
              <a:t>FUNNEL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94415" y="932688"/>
            <a:ext cx="731520" cy="246888"/>
          </a:xfrm>
          <a:prstGeom prst="roundRect">
            <a:avLst/>
          </a:prstGeom>
          <a:solidFill>
            <a:srgbClr val="E0EFF4"/>
          </a:solidFill>
          <a:ln w="9525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932688"/>
            <a:ext cx="7315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COMMUNITY</a:t>
            </a:r>
          </a:p>
        </p:txBody>
      </p:sp>
      <p:sp>
        <p:nvSpPr>
          <p:cNvPr id="9008" name="Line8"/>
          <p:cNvSpPr>
            <a:spLocks noGrp="1"/>
          </p:cNvSpPr>
          <p:nvPr/>
        </p:nvSpPr>
        <p:spPr>
          <a:xfrm>
            <a:off x="731520" y="1938528"/>
            <a:ext cx="10728655" cy="1"/>
          </a:xfrm>
          <a:prstGeom prst="line">
            <a:avLst/>
          </a:prstGeom>
          <a:noFill/>
          <a:ln w="15240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09" name="TextBox 9008"/>
          <p:cNvSpPr txBox="1"/>
          <p:nvPr/>
        </p:nvSpPr>
        <p:spPr>
          <a:xfrm>
            <a:off x="-457200" y="12435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Attention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(Aware)</a:t>
            </a:r>
          </a:p>
        </p:txBody>
      </p:sp>
      <p:sp>
        <p:nvSpPr>
          <p:cNvPr id="9010" name="Line10"/>
          <p:cNvSpPr>
            <a:spLocks noGrp="1"/>
          </p:cNvSpPr>
          <p:nvPr/>
        </p:nvSpPr>
        <p:spPr>
          <a:xfrm>
            <a:off x="731520" y="2057400"/>
            <a:ext cx="1" cy="1408176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11" name="Oval 9010"/>
          <p:cNvSpPr/>
          <p:nvPr/>
        </p:nvSpPr>
        <p:spPr>
          <a:xfrm>
            <a:off x="612648" y="18196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9011"/>
          <p:cNvSpPr txBox="1"/>
          <p:nvPr/>
        </p:nvSpPr>
        <p:spPr>
          <a:xfrm>
            <a:off x="612648" y="1819656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459"/>
                </a:solidFill>
              </a:defRPr>
            </a:pPr>
            <a:r>
              <a:t>1</a:t>
            </a:r>
          </a:p>
        </p:txBody>
      </p:sp>
      <p:sp>
        <p:nvSpPr>
          <p:cNvPr id="9013" name="Oval 9012"/>
          <p:cNvSpPr/>
          <p:nvPr/>
        </p:nvSpPr>
        <p:spPr>
          <a:xfrm>
            <a:off x="-420624" y="223113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TextBox 9013"/>
          <p:cNvSpPr txBox="1"/>
          <p:nvPr/>
        </p:nvSpPr>
        <p:spPr>
          <a:xfrm>
            <a:off x="-292608" y="2148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Reddit r/netsec technical posts</a:t>
            </a:r>
          </a:p>
        </p:txBody>
      </p:sp>
      <p:sp>
        <p:nvSpPr>
          <p:cNvPr id="9015" name="Oval 9014"/>
          <p:cNvSpPr/>
          <p:nvPr/>
        </p:nvSpPr>
        <p:spPr>
          <a:xfrm>
            <a:off x="-420624" y="255117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TextBox 9015"/>
          <p:cNvSpPr txBox="1"/>
          <p:nvPr/>
        </p:nvSpPr>
        <p:spPr>
          <a:xfrm>
            <a:off x="-292608" y="246888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LinkedIn TRIDENT launch post</a:t>
            </a:r>
          </a:p>
        </p:txBody>
      </p:sp>
      <p:sp>
        <p:nvSpPr>
          <p:cNvPr id="9017" name="Oval 9016"/>
          <p:cNvSpPr/>
          <p:nvPr/>
        </p:nvSpPr>
        <p:spPr>
          <a:xfrm>
            <a:off x="-420624" y="287121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9017"/>
          <p:cNvSpPr txBox="1"/>
          <p:nvPr/>
        </p:nvSpPr>
        <p:spPr>
          <a:xfrm>
            <a:off x="-292608" y="27889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GitHub repo + O'Reilly provenance</a:t>
            </a:r>
          </a:p>
        </p:txBody>
      </p:sp>
      <p:sp>
        <p:nvSpPr>
          <p:cNvPr id="9019" name="Oval 9018"/>
          <p:cNvSpPr/>
          <p:nvPr/>
        </p:nvSpPr>
        <p:spPr>
          <a:xfrm>
            <a:off x="-420624" y="319125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0" name="TextBox 9019"/>
          <p:cNvSpPr txBox="1"/>
          <p:nvPr/>
        </p:nvSpPr>
        <p:spPr>
          <a:xfrm>
            <a:off x="-292608" y="310896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ATT&amp;CK depth screenshot hooks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2224963" y="12435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Interest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(Inform)</a:t>
            </a:r>
          </a:p>
        </p:txBody>
      </p:sp>
      <p:sp>
        <p:nvSpPr>
          <p:cNvPr id="9022" name="Line22"/>
          <p:cNvSpPr>
            <a:spLocks noGrp="1"/>
          </p:cNvSpPr>
          <p:nvPr/>
        </p:nvSpPr>
        <p:spPr>
          <a:xfrm>
            <a:off x="3413683" y="2057400"/>
            <a:ext cx="1" cy="1408176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23" name="Oval 9022"/>
          <p:cNvSpPr/>
          <p:nvPr/>
        </p:nvSpPr>
        <p:spPr>
          <a:xfrm>
            <a:off x="3294811" y="18196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4" name="TextBox 9023"/>
          <p:cNvSpPr txBox="1"/>
          <p:nvPr/>
        </p:nvSpPr>
        <p:spPr>
          <a:xfrm>
            <a:off x="3294811" y="1819656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459"/>
                </a:solidFill>
              </a:defRPr>
            </a:pPr>
            <a:r>
              <a:t>2</a:t>
            </a:r>
          </a:p>
        </p:txBody>
      </p:sp>
      <p:sp>
        <p:nvSpPr>
          <p:cNvPr id="9025" name="Oval 9024"/>
          <p:cNvSpPr/>
          <p:nvPr/>
        </p:nvSpPr>
        <p:spPr>
          <a:xfrm>
            <a:off x="2261539" y="223113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6" name="TextBox 9025"/>
          <p:cNvSpPr txBox="1"/>
          <p:nvPr/>
        </p:nvSpPr>
        <p:spPr>
          <a:xfrm>
            <a:off x="2389555" y="2148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48 pattern pages — SEO optimised</a:t>
            </a:r>
          </a:p>
        </p:txBody>
      </p:sp>
      <p:sp>
        <p:nvSpPr>
          <p:cNvPr id="9027" name="Oval 9026"/>
          <p:cNvSpPr/>
          <p:nvPr/>
        </p:nvSpPr>
        <p:spPr>
          <a:xfrm>
            <a:off x="2261539" y="255117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8" name="TextBox 9027"/>
          <p:cNvSpPr txBox="1"/>
          <p:nvPr/>
        </p:nvSpPr>
        <p:spPr>
          <a:xfrm>
            <a:off x="2389555" y="246888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TRIDENT Explorer walkthrough</a:t>
            </a:r>
          </a:p>
        </p:txBody>
      </p:sp>
      <p:sp>
        <p:nvSpPr>
          <p:cNvPr id="9029" name="Oval 9028"/>
          <p:cNvSpPr/>
          <p:nvPr/>
        </p:nvSpPr>
        <p:spPr>
          <a:xfrm>
            <a:off x="2261539" y="287121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0" name="TextBox 9029"/>
          <p:cNvSpPr txBox="1"/>
          <p:nvPr/>
        </p:nvSpPr>
        <p:spPr>
          <a:xfrm>
            <a:off x="2389555" y="27889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Framework coverage explorer</a:t>
            </a:r>
          </a:p>
        </p:txBody>
      </p:sp>
      <p:sp>
        <p:nvSpPr>
          <p:cNvPr id="9031" name="Oval 9030"/>
          <p:cNvSpPr/>
          <p:nvPr/>
        </p:nvSpPr>
        <p:spPr>
          <a:xfrm>
            <a:off x="2261539" y="319125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2" name="TextBox 9031"/>
          <p:cNvSpPr txBox="1"/>
          <p:nvPr/>
        </p:nvSpPr>
        <p:spPr>
          <a:xfrm>
            <a:off x="2389555" y="310896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NIST · ATT&amp;CK · CIS graph depth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4907127" y="12435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Desire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(Convince)</a:t>
            </a:r>
          </a:p>
        </p:txBody>
      </p:sp>
      <p:sp>
        <p:nvSpPr>
          <p:cNvPr id="9034" name="Line34"/>
          <p:cNvSpPr>
            <a:spLocks noGrp="1"/>
          </p:cNvSpPr>
          <p:nvPr/>
        </p:nvSpPr>
        <p:spPr>
          <a:xfrm>
            <a:off x="6095847" y="2057400"/>
            <a:ext cx="1" cy="1408176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35" name="Oval 9034"/>
          <p:cNvSpPr/>
          <p:nvPr/>
        </p:nvSpPr>
        <p:spPr>
          <a:xfrm>
            <a:off x="5976975" y="18196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6" name="TextBox 9035"/>
          <p:cNvSpPr txBox="1"/>
          <p:nvPr/>
        </p:nvSpPr>
        <p:spPr>
          <a:xfrm>
            <a:off x="5976975" y="1819656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459"/>
                </a:solidFill>
              </a:defRPr>
            </a:pPr>
            <a:r>
              <a:t>3</a:t>
            </a:r>
          </a:p>
        </p:txBody>
      </p:sp>
      <p:sp>
        <p:nvSpPr>
          <p:cNvPr id="9037" name="Oval 9036"/>
          <p:cNvSpPr/>
          <p:nvPr/>
        </p:nvSpPr>
        <p:spPr>
          <a:xfrm>
            <a:off x="4943703" y="223113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8" name="TextBox 9037"/>
          <p:cNvSpPr txBox="1"/>
          <p:nvPr/>
        </p:nvSpPr>
        <p:spPr>
          <a:xfrm>
            <a:off x="5071719" y="2148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Free assessment tool (10 min)</a:t>
            </a:r>
          </a:p>
        </p:txBody>
      </p:sp>
      <p:sp>
        <p:nvSpPr>
          <p:cNvPr id="9039" name="Oval 9038"/>
          <p:cNvSpPr/>
          <p:nvPr/>
        </p:nvSpPr>
        <p:spPr>
          <a:xfrm>
            <a:off x="4943703" y="255117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0" name="TextBox 9039"/>
          <p:cNvSpPr txBox="1"/>
          <p:nvPr/>
        </p:nvSpPr>
        <p:spPr>
          <a:xfrm>
            <a:off x="5071719" y="246888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Financial Services vertical profile</a:t>
            </a:r>
          </a:p>
        </p:txBody>
      </p:sp>
      <p:sp>
        <p:nvSpPr>
          <p:cNvPr id="9041" name="Oval 9040"/>
          <p:cNvSpPr/>
          <p:nvPr/>
        </p:nvSpPr>
        <p:spPr>
          <a:xfrm>
            <a:off x="4943703" y="287121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2" name="TextBox 9041"/>
          <p:cNvSpPr txBox="1"/>
          <p:nvPr/>
        </p:nvSpPr>
        <p:spPr>
          <a:xfrm>
            <a:off x="5071719" y="27889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Benchmark comparison preview</a:t>
            </a:r>
          </a:p>
        </p:txBody>
      </p:sp>
      <p:sp>
        <p:nvSpPr>
          <p:cNvPr id="9043" name="Oval 9042"/>
          <p:cNvSpPr/>
          <p:nvPr/>
        </p:nvSpPr>
        <p:spPr>
          <a:xfrm>
            <a:off x="4943703" y="3191256"/>
            <a:ext cx="64008" cy="64008"/>
          </a:xfrm>
          <a:prstGeom prst="ellipse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4" name="TextBox 9043"/>
          <p:cNvSpPr txBox="1"/>
          <p:nvPr/>
        </p:nvSpPr>
        <p:spPr>
          <a:xfrm>
            <a:off x="5071719" y="310896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TRIDENT scale — 17K+ edges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7589291" y="12435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Action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(Onboard)</a:t>
            </a:r>
          </a:p>
        </p:txBody>
      </p:sp>
      <p:sp>
        <p:nvSpPr>
          <p:cNvPr id="9046" name="Line46"/>
          <p:cNvSpPr>
            <a:spLocks noGrp="1"/>
          </p:cNvSpPr>
          <p:nvPr/>
        </p:nvSpPr>
        <p:spPr>
          <a:xfrm>
            <a:off x="8778011" y="2057400"/>
            <a:ext cx="1" cy="1408176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47" name="Oval 9046"/>
          <p:cNvSpPr/>
          <p:nvPr/>
        </p:nvSpPr>
        <p:spPr>
          <a:xfrm>
            <a:off x="8659139" y="18196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8" name="TextBox 9047"/>
          <p:cNvSpPr txBox="1"/>
          <p:nvPr/>
        </p:nvSpPr>
        <p:spPr>
          <a:xfrm>
            <a:off x="8659139" y="1819656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4</a:t>
            </a:r>
          </a:p>
        </p:txBody>
      </p:sp>
      <p:sp>
        <p:nvSpPr>
          <p:cNvPr id="9049" name="Oval 9048"/>
          <p:cNvSpPr/>
          <p:nvPr/>
        </p:nvSpPr>
        <p:spPr>
          <a:xfrm>
            <a:off x="7625867" y="223113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0" name="TextBox 9049"/>
          <p:cNvSpPr txBox="1"/>
          <p:nvPr/>
        </p:nvSpPr>
        <p:spPr>
          <a:xfrm>
            <a:off x="7753883" y="2148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GitHub / LinkedIn OAuth sign-up</a:t>
            </a:r>
          </a:p>
        </p:txBody>
      </p:sp>
      <p:sp>
        <p:nvSpPr>
          <p:cNvPr id="9051" name="Oval 9050"/>
          <p:cNvSpPr/>
          <p:nvPr/>
        </p:nvSpPr>
        <p:spPr>
          <a:xfrm>
            <a:off x="7625867" y="255117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2" name="TextBox 9051"/>
          <p:cNvSpPr txBox="1"/>
          <p:nvPr/>
        </p:nvSpPr>
        <p:spPr>
          <a:xfrm>
            <a:off x="7753883" y="246888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Free API key self-registration</a:t>
            </a:r>
          </a:p>
        </p:txBody>
      </p:sp>
      <p:sp>
        <p:nvSpPr>
          <p:cNvPr id="9053" name="Oval 9052"/>
          <p:cNvSpPr/>
          <p:nvPr/>
        </p:nvSpPr>
        <p:spPr>
          <a:xfrm>
            <a:off x="7625867" y="287121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4" name="TextBox 9053"/>
          <p:cNvSpPr txBox="1"/>
          <p:nvPr/>
        </p:nvSpPr>
        <p:spPr>
          <a:xfrm>
            <a:off x="7753883" y="27889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First assessment completion</a:t>
            </a:r>
          </a:p>
        </p:txBody>
      </p:sp>
      <p:sp>
        <p:nvSpPr>
          <p:cNvPr id="9055" name="Oval 9054"/>
          <p:cNvSpPr/>
          <p:nvPr/>
        </p:nvSpPr>
        <p:spPr>
          <a:xfrm>
            <a:off x="7625867" y="319125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6" name="TextBox 9055"/>
          <p:cNvSpPr txBox="1"/>
          <p:nvPr/>
        </p:nvSpPr>
        <p:spPr>
          <a:xfrm>
            <a:off x="7753883" y="310896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Pattern follow &amp; watchlist</a:t>
            </a:r>
          </a:p>
        </p:txBody>
      </p:sp>
      <p:sp>
        <p:nvSpPr>
          <p:cNvPr id="9057" name="TextBox 9056"/>
          <p:cNvSpPr txBox="1"/>
          <p:nvPr/>
        </p:nvSpPr>
        <p:spPr>
          <a:xfrm>
            <a:off x="10271455" y="12435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Support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Building</a:t>
            </a:r>
          </a:p>
        </p:txBody>
      </p:sp>
      <p:sp>
        <p:nvSpPr>
          <p:cNvPr id="9058" name="Line58"/>
          <p:cNvSpPr>
            <a:spLocks noGrp="1"/>
          </p:cNvSpPr>
          <p:nvPr/>
        </p:nvSpPr>
        <p:spPr>
          <a:xfrm>
            <a:off x="11460175" y="2057400"/>
            <a:ext cx="1" cy="1408176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59" name="Oval 9058"/>
          <p:cNvSpPr/>
          <p:nvPr/>
        </p:nvSpPr>
        <p:spPr>
          <a:xfrm>
            <a:off x="11341303" y="18196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0" name="TextBox 9059"/>
          <p:cNvSpPr txBox="1"/>
          <p:nvPr/>
        </p:nvSpPr>
        <p:spPr>
          <a:xfrm>
            <a:off x="11341303" y="1819656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5</a:t>
            </a:r>
          </a:p>
        </p:txBody>
      </p:sp>
      <p:sp>
        <p:nvSpPr>
          <p:cNvPr id="9061" name="Oval 9060"/>
          <p:cNvSpPr/>
          <p:nvPr/>
        </p:nvSpPr>
        <p:spPr>
          <a:xfrm>
            <a:off x="10308031" y="223113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2" name="TextBox 9061"/>
          <p:cNvSpPr txBox="1"/>
          <p:nvPr/>
        </p:nvSpPr>
        <p:spPr>
          <a:xfrm>
            <a:off x="10436047" y="2148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GitHub Discussions on osa-data</a:t>
            </a:r>
          </a:p>
        </p:txBody>
      </p:sp>
      <p:sp>
        <p:nvSpPr>
          <p:cNvPr id="9063" name="Oval 9062"/>
          <p:cNvSpPr/>
          <p:nvPr/>
        </p:nvSpPr>
        <p:spPr>
          <a:xfrm>
            <a:off x="10308031" y="255117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4" name="TextBox 9063"/>
          <p:cNvSpPr txBox="1"/>
          <p:nvPr/>
        </p:nvSpPr>
        <p:spPr>
          <a:xfrm>
            <a:off x="10436047" y="246888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Per-pattern comment system</a:t>
            </a:r>
          </a:p>
        </p:txBody>
      </p:sp>
      <p:sp>
        <p:nvSpPr>
          <p:cNvPr id="9065" name="Oval 9064"/>
          <p:cNvSpPr/>
          <p:nvPr/>
        </p:nvSpPr>
        <p:spPr>
          <a:xfrm>
            <a:off x="10308031" y="287121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6" name="TextBox 9065"/>
          <p:cNvSpPr txBox="1"/>
          <p:nvPr/>
        </p:nvSpPr>
        <p:spPr>
          <a:xfrm>
            <a:off x="10436047" y="27889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Pattern contribution programme</a:t>
            </a:r>
          </a:p>
        </p:txBody>
      </p:sp>
      <p:sp>
        <p:nvSpPr>
          <p:cNvPr id="9067" name="Oval 9066"/>
          <p:cNvSpPr/>
          <p:nvPr/>
        </p:nvSpPr>
        <p:spPr>
          <a:xfrm>
            <a:off x="10308031" y="3191256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8" name="TextBox 9067"/>
          <p:cNvSpPr txBox="1"/>
          <p:nvPr/>
        </p:nvSpPr>
        <p:spPr>
          <a:xfrm>
            <a:off x="10436047" y="310896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Post-registration email sequence</a:t>
            </a:r>
          </a:p>
        </p:txBody>
      </p:sp>
      <p:sp>
        <p:nvSpPr>
          <p:cNvPr id="9069" name="Line69"/>
          <p:cNvSpPr>
            <a:spLocks noGrp="1"/>
          </p:cNvSpPr>
          <p:nvPr/>
        </p:nvSpPr>
        <p:spPr>
          <a:xfrm>
            <a:off x="365760" y="3538728"/>
            <a:ext cx="11460175" cy="1"/>
          </a:xfrm>
          <a:prstGeom prst="line">
            <a:avLst/>
          </a:prstGeom>
          <a:noFill/>
          <a:ln w="6350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70" name="Rounded Rectangle 9069"/>
          <p:cNvSpPr/>
          <p:nvPr/>
        </p:nvSpPr>
        <p:spPr>
          <a:xfrm>
            <a:off x="365760" y="3703320"/>
            <a:ext cx="7883956" cy="246888"/>
          </a:xfrm>
          <a:prstGeom prst="roundRect">
            <a:avLst/>
          </a:prstGeom>
          <a:solidFill>
            <a:srgbClr val="E0EFF4"/>
          </a:solidFill>
          <a:ln w="9525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1" name="TextBox 9070"/>
          <p:cNvSpPr txBox="1"/>
          <p:nvPr/>
        </p:nvSpPr>
        <p:spPr>
          <a:xfrm>
            <a:off x="365760" y="3703320"/>
            <a:ext cx="7883956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COMMUNITY GROWTH</a:t>
            </a:r>
          </a:p>
        </p:txBody>
      </p:sp>
      <p:sp>
        <p:nvSpPr>
          <p:cNvPr id="9072" name="Rounded Rectangle 9071"/>
          <p:cNvSpPr/>
          <p:nvPr/>
        </p:nvSpPr>
        <p:spPr>
          <a:xfrm>
            <a:off x="11094415" y="3703320"/>
            <a:ext cx="731520" cy="246888"/>
          </a:xfrm>
          <a:prstGeom prst="roundRect">
            <a:avLst/>
          </a:prstGeom>
          <a:solidFill>
            <a:srgbClr val="E0F4FC"/>
          </a:solidFill>
          <a:ln w="952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3" name="TextBox 9072"/>
          <p:cNvSpPr txBox="1"/>
          <p:nvPr/>
        </p:nvSpPr>
        <p:spPr>
          <a:xfrm>
            <a:off x="11094415" y="3703320"/>
            <a:ext cx="7315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A8E8"/>
                </a:solidFill>
              </a:defRPr>
            </a:pPr>
            <a:r>
              <a:t>STANDARDISE</a:t>
            </a:r>
          </a:p>
        </p:txBody>
      </p:sp>
      <p:sp>
        <p:nvSpPr>
          <p:cNvPr id="9074" name="Line74"/>
          <p:cNvSpPr>
            <a:spLocks noGrp="1"/>
          </p:cNvSpPr>
          <p:nvPr/>
        </p:nvSpPr>
        <p:spPr>
          <a:xfrm>
            <a:off x="731520" y="4709160"/>
            <a:ext cx="10728655" cy="1"/>
          </a:xfrm>
          <a:prstGeom prst="line">
            <a:avLst/>
          </a:prstGeom>
          <a:noFill/>
          <a:ln w="15240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75" name="TextBox 9074"/>
          <p:cNvSpPr txBox="1"/>
          <p:nvPr/>
        </p:nvSpPr>
        <p:spPr>
          <a:xfrm>
            <a:off x="-457200" y="4023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Support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Testing</a:t>
            </a:r>
          </a:p>
        </p:txBody>
      </p:sp>
      <p:sp>
        <p:nvSpPr>
          <p:cNvPr id="9076" name="Line76"/>
          <p:cNvSpPr>
            <a:spLocks noGrp="1"/>
          </p:cNvSpPr>
          <p:nvPr/>
        </p:nvSpPr>
        <p:spPr>
          <a:xfrm>
            <a:off x="731520" y="4828032"/>
            <a:ext cx="1" cy="1399032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77" name="Oval 9076"/>
          <p:cNvSpPr/>
          <p:nvPr/>
        </p:nvSpPr>
        <p:spPr>
          <a:xfrm>
            <a:off x="612648" y="459028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8" name="TextBox 9077"/>
          <p:cNvSpPr txBox="1"/>
          <p:nvPr/>
        </p:nvSpPr>
        <p:spPr>
          <a:xfrm>
            <a:off x="612648" y="4590288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6</a:t>
            </a:r>
          </a:p>
        </p:txBody>
      </p:sp>
      <p:sp>
        <p:nvSpPr>
          <p:cNvPr id="9079" name="Oval 9078"/>
          <p:cNvSpPr/>
          <p:nvPr/>
        </p:nvSpPr>
        <p:spPr>
          <a:xfrm>
            <a:off x="-420624" y="499262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0" name="TextBox 9079"/>
          <p:cNvSpPr txBox="1"/>
          <p:nvPr/>
        </p:nvSpPr>
        <p:spPr>
          <a:xfrm>
            <a:off x="-292608" y="491032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Activation A/B testing</a:t>
            </a:r>
          </a:p>
        </p:txBody>
      </p:sp>
      <p:sp>
        <p:nvSpPr>
          <p:cNvPr id="9081" name="Oval 9080"/>
          <p:cNvSpPr/>
          <p:nvPr/>
        </p:nvSpPr>
        <p:spPr>
          <a:xfrm>
            <a:off x="-420624" y="531266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2" name="TextBox 9081"/>
          <p:cNvSpPr txBox="1"/>
          <p:nvPr/>
        </p:nvSpPr>
        <p:spPr>
          <a:xfrm>
            <a:off x="-292608" y="523036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Assessment benchmark pool build</a:t>
            </a:r>
          </a:p>
        </p:txBody>
      </p:sp>
      <p:sp>
        <p:nvSpPr>
          <p:cNvPr id="9083" name="Oval 9082"/>
          <p:cNvSpPr/>
          <p:nvPr/>
        </p:nvSpPr>
        <p:spPr>
          <a:xfrm>
            <a:off x="-420624" y="563270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4" name="TextBox 9083"/>
          <p:cNvSpPr txBox="1"/>
          <p:nvPr/>
        </p:nvSpPr>
        <p:spPr>
          <a:xfrm>
            <a:off x="-292608" y="555040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Beta feature gate (TRIDENT)</a:t>
            </a:r>
          </a:p>
        </p:txBody>
      </p:sp>
      <p:sp>
        <p:nvSpPr>
          <p:cNvPr id="9085" name="Oval 9084"/>
          <p:cNvSpPr/>
          <p:nvPr/>
        </p:nvSpPr>
        <p:spPr>
          <a:xfrm>
            <a:off x="-420624" y="595274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6" name="TextBox 9085"/>
          <p:cNvSpPr txBox="1"/>
          <p:nvPr/>
        </p:nvSpPr>
        <p:spPr>
          <a:xfrm>
            <a:off x="-292608" y="587044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E2E coverage — 85 assertions</a:t>
            </a:r>
          </a:p>
        </p:txBody>
      </p:sp>
      <p:sp>
        <p:nvSpPr>
          <p:cNvPr id="9087" name="TextBox 9086"/>
          <p:cNvSpPr txBox="1"/>
          <p:nvPr/>
        </p:nvSpPr>
        <p:spPr>
          <a:xfrm>
            <a:off x="3119018" y="4023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Support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Publishing</a:t>
            </a:r>
          </a:p>
        </p:txBody>
      </p:sp>
      <p:sp>
        <p:nvSpPr>
          <p:cNvPr id="9088" name="Line88"/>
          <p:cNvSpPr>
            <a:spLocks noGrp="1"/>
          </p:cNvSpPr>
          <p:nvPr/>
        </p:nvSpPr>
        <p:spPr>
          <a:xfrm>
            <a:off x="4307738" y="4828032"/>
            <a:ext cx="1" cy="1399032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089" name="Oval 9088"/>
          <p:cNvSpPr/>
          <p:nvPr/>
        </p:nvSpPr>
        <p:spPr>
          <a:xfrm>
            <a:off x="4188866" y="459028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0" name="TextBox 9089"/>
          <p:cNvSpPr txBox="1"/>
          <p:nvPr/>
        </p:nvSpPr>
        <p:spPr>
          <a:xfrm>
            <a:off x="4188866" y="4590288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7</a:t>
            </a:r>
          </a:p>
        </p:txBody>
      </p:sp>
      <p:sp>
        <p:nvSpPr>
          <p:cNvPr id="9091" name="Oval 9090"/>
          <p:cNvSpPr/>
          <p:nvPr/>
        </p:nvSpPr>
        <p:spPr>
          <a:xfrm>
            <a:off x="3155594" y="499262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2" name="TextBox 9091"/>
          <p:cNvSpPr txBox="1"/>
          <p:nvPr/>
        </p:nvSpPr>
        <p:spPr>
          <a:xfrm>
            <a:off x="3283610" y="491032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Regular pattern release cadence</a:t>
            </a:r>
          </a:p>
        </p:txBody>
      </p:sp>
      <p:sp>
        <p:nvSpPr>
          <p:cNvPr id="9093" name="Oval 9092"/>
          <p:cNvSpPr/>
          <p:nvPr/>
        </p:nvSpPr>
        <p:spPr>
          <a:xfrm>
            <a:off x="3155594" y="531266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4" name="TextBox 9093"/>
          <p:cNvSpPr txBox="1"/>
          <p:nvPr/>
        </p:nvSpPr>
        <p:spPr>
          <a:xfrm>
            <a:off x="3283610" y="523036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Framework mapping updates</a:t>
            </a:r>
          </a:p>
        </p:txBody>
      </p:sp>
      <p:sp>
        <p:nvSpPr>
          <p:cNvPr id="9095" name="Oval 9094"/>
          <p:cNvSpPr/>
          <p:nvPr/>
        </p:nvSpPr>
        <p:spPr>
          <a:xfrm>
            <a:off x="3155594" y="563270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6" name="TextBox 9095"/>
          <p:cNvSpPr txBox="1"/>
          <p:nvPr/>
        </p:nvSpPr>
        <p:spPr>
          <a:xfrm>
            <a:off x="3283610" y="555040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Bi-weekly blog post programme</a:t>
            </a:r>
          </a:p>
        </p:txBody>
      </p:sp>
      <p:sp>
        <p:nvSpPr>
          <p:cNvPr id="9097" name="Oval 9096"/>
          <p:cNvSpPr/>
          <p:nvPr/>
        </p:nvSpPr>
        <p:spPr>
          <a:xfrm>
            <a:off x="3155594" y="595274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8" name="TextBox 9097"/>
          <p:cNvSpPr txBox="1"/>
          <p:nvPr/>
        </p:nvSpPr>
        <p:spPr>
          <a:xfrm>
            <a:off x="3283610" y="587044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Changelog &amp; release notes</a:t>
            </a:r>
          </a:p>
        </p:txBody>
      </p:sp>
      <p:sp>
        <p:nvSpPr>
          <p:cNvPr id="9099" name="TextBox 9098"/>
          <p:cNvSpPr txBox="1"/>
          <p:nvPr/>
        </p:nvSpPr>
        <p:spPr>
          <a:xfrm>
            <a:off x="6695236" y="4023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Support</a:t>
            </a:r>
          </a:p>
          <a:p>
            <a:pPr algn="ctr">
              <a:defRPr sz="1100" b="0">
                <a:solidFill>
                  <a:srgbClr val="007EA7"/>
                </a:solidFill>
              </a:defRPr>
            </a:pPr>
            <a:r>
              <a:t>Storytelling</a:t>
            </a:r>
          </a:p>
        </p:txBody>
      </p:sp>
      <p:sp>
        <p:nvSpPr>
          <p:cNvPr id="9100" name="Line100"/>
          <p:cNvSpPr>
            <a:spLocks noGrp="1"/>
          </p:cNvSpPr>
          <p:nvPr/>
        </p:nvSpPr>
        <p:spPr>
          <a:xfrm>
            <a:off x="7883956" y="4828032"/>
            <a:ext cx="1" cy="1399032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101" name="Oval 9100"/>
          <p:cNvSpPr/>
          <p:nvPr/>
        </p:nvSpPr>
        <p:spPr>
          <a:xfrm>
            <a:off x="7765084" y="459028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2" name="TextBox 9101"/>
          <p:cNvSpPr txBox="1"/>
          <p:nvPr/>
        </p:nvSpPr>
        <p:spPr>
          <a:xfrm>
            <a:off x="7765084" y="4590288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EA7"/>
                </a:solidFill>
              </a:defRPr>
            </a:pPr>
            <a:r>
              <a:t>8</a:t>
            </a:r>
          </a:p>
        </p:txBody>
      </p:sp>
      <p:sp>
        <p:nvSpPr>
          <p:cNvPr id="9103" name="Oval 9102"/>
          <p:cNvSpPr/>
          <p:nvPr/>
        </p:nvSpPr>
        <p:spPr>
          <a:xfrm>
            <a:off x="6731812" y="499262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4" name="TextBox 9103"/>
          <p:cNvSpPr txBox="1"/>
          <p:nvPr/>
        </p:nvSpPr>
        <p:spPr>
          <a:xfrm>
            <a:off x="6859828" y="491032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CISO board pack demo deck</a:t>
            </a:r>
          </a:p>
        </p:txBody>
      </p:sp>
      <p:sp>
        <p:nvSpPr>
          <p:cNvPr id="9105" name="Oval 9104"/>
          <p:cNvSpPr/>
          <p:nvPr/>
        </p:nvSpPr>
        <p:spPr>
          <a:xfrm>
            <a:off x="6731812" y="531266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6" name="TextBox 9105"/>
          <p:cNvSpPr txBox="1"/>
          <p:nvPr/>
        </p:nvSpPr>
        <p:spPr>
          <a:xfrm>
            <a:off x="6859828" y="523036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SABSA / ISC2 conference talks</a:t>
            </a:r>
          </a:p>
        </p:txBody>
      </p:sp>
      <p:sp>
        <p:nvSpPr>
          <p:cNvPr id="9107" name="Oval 9106"/>
          <p:cNvSpPr/>
          <p:nvPr/>
        </p:nvSpPr>
        <p:spPr>
          <a:xfrm>
            <a:off x="6731812" y="563270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8" name="TextBox 9107"/>
          <p:cNvSpPr txBox="1"/>
          <p:nvPr/>
        </p:nvSpPr>
        <p:spPr>
          <a:xfrm>
            <a:off x="6859828" y="555040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Consultant case studies</a:t>
            </a:r>
          </a:p>
        </p:txBody>
      </p:sp>
      <p:sp>
        <p:nvSpPr>
          <p:cNvPr id="9109" name="Oval 9108"/>
          <p:cNvSpPr/>
          <p:nvPr/>
        </p:nvSpPr>
        <p:spPr>
          <a:xfrm>
            <a:off x="6731812" y="5952744"/>
            <a:ext cx="64008" cy="64008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0" name="TextBox 9109"/>
          <p:cNvSpPr txBox="1"/>
          <p:nvPr/>
        </p:nvSpPr>
        <p:spPr>
          <a:xfrm>
            <a:off x="6859828" y="587044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Podcast &amp; media outreach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10271455" y="4023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459"/>
                </a:solidFill>
              </a:defRPr>
            </a:pPr>
            <a:r>
              <a:t>Standardize</a:t>
            </a:r>
          </a:p>
          <a:p>
            <a:pPr algn="ctr">
              <a:defRPr sz="1100" b="0">
                <a:solidFill>
                  <a:srgbClr val="00A8E8"/>
                </a:solidFill>
              </a:defRPr>
            </a:pPr>
            <a:r>
              <a:t>(natl. / intl.)</a:t>
            </a:r>
          </a:p>
        </p:txBody>
      </p:sp>
      <p:sp>
        <p:nvSpPr>
          <p:cNvPr id="9112" name="Line112"/>
          <p:cNvSpPr>
            <a:spLocks noGrp="1"/>
          </p:cNvSpPr>
          <p:nvPr/>
        </p:nvSpPr>
        <p:spPr>
          <a:xfrm>
            <a:off x="11460175" y="4828032"/>
            <a:ext cx="1" cy="1399032"/>
          </a:xfrm>
          <a:prstGeom prst="line">
            <a:avLst/>
          </a:prstGeom>
          <a:noFill/>
          <a:ln w="9525">
            <a:solidFill>
              <a:srgbClr val="B0BECC"/>
            </a:solidFill>
          </a:ln>
        </p:spPr>
        <p:txBody>
          <a:bodyPr/>
          <a:lstStyle/>
          <a:p/>
        </p:txBody>
      </p:sp>
      <p:sp>
        <p:nvSpPr>
          <p:cNvPr id="9113" name="Oval 9112"/>
          <p:cNvSpPr/>
          <p:nvPr/>
        </p:nvSpPr>
        <p:spPr>
          <a:xfrm>
            <a:off x="11341303" y="459028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4" name="TextBox 9113"/>
          <p:cNvSpPr txBox="1"/>
          <p:nvPr/>
        </p:nvSpPr>
        <p:spPr>
          <a:xfrm>
            <a:off x="11341303" y="4590288"/>
            <a:ext cx="237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A8E8"/>
                </a:solidFill>
              </a:defRPr>
            </a:pPr>
            <a:r>
              <a:t>9</a:t>
            </a:r>
          </a:p>
        </p:txBody>
      </p:sp>
      <p:sp>
        <p:nvSpPr>
          <p:cNvPr id="9115" name="Oval 9114"/>
          <p:cNvSpPr/>
          <p:nvPr/>
        </p:nvSpPr>
        <p:spPr>
          <a:xfrm>
            <a:off x="10308031" y="4992624"/>
            <a:ext cx="64008" cy="64008"/>
          </a:xfrm>
          <a:prstGeom prst="ellipse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6" name="TextBox 9115"/>
          <p:cNvSpPr txBox="1"/>
          <p:nvPr/>
        </p:nvSpPr>
        <p:spPr>
          <a:xfrm>
            <a:off x="10436047" y="491032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Intl. verticals: SG · JP · CH · NL</a:t>
            </a:r>
          </a:p>
        </p:txBody>
      </p:sp>
      <p:sp>
        <p:nvSpPr>
          <p:cNvPr id="9117" name="Oval 9116"/>
          <p:cNvSpPr/>
          <p:nvPr/>
        </p:nvSpPr>
        <p:spPr>
          <a:xfrm>
            <a:off x="10308031" y="5312664"/>
            <a:ext cx="64008" cy="64008"/>
          </a:xfrm>
          <a:prstGeom prst="ellipse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8" name="TextBox 9117"/>
          <p:cNvSpPr txBox="1"/>
          <p:nvPr/>
        </p:nvSpPr>
        <p:spPr>
          <a:xfrm>
            <a:off x="10436047" y="523036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SABSA chapter integration</a:t>
            </a:r>
          </a:p>
        </p:txBody>
      </p:sp>
      <p:sp>
        <p:nvSpPr>
          <p:cNvPr id="9119" name="Oval 9118"/>
          <p:cNvSpPr/>
          <p:nvPr/>
        </p:nvSpPr>
        <p:spPr>
          <a:xfrm>
            <a:off x="10308031" y="5632704"/>
            <a:ext cx="64008" cy="64008"/>
          </a:xfrm>
          <a:prstGeom prst="ellipse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0" name="TextBox 9119"/>
          <p:cNvSpPr txBox="1"/>
          <p:nvPr/>
        </p:nvSpPr>
        <p:spPr>
          <a:xfrm>
            <a:off x="10436047" y="555040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ISO 42001 / EU AI Act alignment</a:t>
            </a:r>
          </a:p>
        </p:txBody>
      </p:sp>
      <p:sp>
        <p:nvSpPr>
          <p:cNvPr id="9121" name="Oval 9120"/>
          <p:cNvSpPr/>
          <p:nvPr/>
        </p:nvSpPr>
        <p:spPr>
          <a:xfrm>
            <a:off x="10308031" y="5952744"/>
            <a:ext cx="64008" cy="64008"/>
          </a:xfrm>
          <a:prstGeom prst="ellipse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2" name="TextBox 9121"/>
          <p:cNvSpPr txBox="1"/>
          <p:nvPr/>
        </p:nvSpPr>
        <p:spPr>
          <a:xfrm>
            <a:off x="10436047" y="587044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D3D"/>
                </a:solidFill>
              </a:defRPr>
            </a:pPr>
            <a:r>
              <a:t>Franchise / consultant programme</a:t>
            </a:r>
          </a:p>
        </p:txBody>
      </p:sp>
      <p:sp>
        <p:nvSpPr>
          <p:cNvPr id="9123" name="Rectangle 91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4" name="TextBox 9123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opensecurityarchitecture.org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0" y="6601968"/>
            <a:ext cx="11825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Go-to-Market Strategy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