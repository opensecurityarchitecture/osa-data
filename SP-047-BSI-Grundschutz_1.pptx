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89"/>
    <p:restoredTop sz="94663"/>
  </p:normalViewPr>
  <p:slideViewPr>
    <p:cSldViewPr snapToGrid="0" snapToObjects="1">
      <p:cViewPr varScale="1">
        <p:scale>
          <a:sx n="203" d="100"/>
          <a:sy n="203" d="100"/>
        </p:scale>
        <p:origin x="200" y="1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09928" y="137160"/>
            <a:ext cx="8778240" cy="6583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56232" y="283464"/>
            <a:ext cx="8485632" cy="548640"/>
          </a:xfrm>
          <a:prstGeom prst="roundRect">
            <a:avLst/>
          </a:prstGeom>
          <a:solidFill>
            <a:srgbClr val="00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52800" y="3383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AGENT LIFECYCLE &amp; DEPLOYMENT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6232" y="989230"/>
            <a:ext cx="1828800" cy="2834640"/>
          </a:xfrm>
          <a:prstGeom prst="roundRect">
            <a:avLst>
              <a:gd name="adj" fmla="val 11637"/>
            </a:avLst>
          </a:prstGeom>
          <a:noFill/>
          <a:ln w="25400">
            <a:solidFill>
              <a:srgbClr val="007E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56232" y="978408"/>
            <a:ext cx="1828800" cy="25603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47672" y="106070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AGENTIC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1344168"/>
            <a:ext cx="786384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4081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344168"/>
            <a:ext cx="749808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14081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CrewAI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4248" y="1563624"/>
            <a:ext cx="786384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16276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AutoGen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563624"/>
            <a:ext cx="749808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16352" y="16276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892807"/>
            <a:ext cx="365760" cy="438912"/>
          </a:xfrm>
          <a:prstGeom prst="roundRect">
            <a:avLst/>
          </a:prstGeom>
          <a:noFill/>
          <a:ln w="254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23865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</a:defRPr>
            </a:pPr>
            <a:r>
              <a:t>Orchestrator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1929384"/>
            <a:ext cx="256032" cy="292608"/>
          </a:xfrm>
          <a:prstGeom prst="roundRect">
            <a:avLst/>
          </a:prstGeom>
          <a:noFill/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8104" y="1929384"/>
            <a:ext cx="256032" cy="292608"/>
          </a:xfrm>
          <a:prstGeom prst="roundRect">
            <a:avLst/>
          </a:prstGeom>
          <a:noFill/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29000" y="1929384"/>
            <a:ext cx="146304" cy="292608"/>
          </a:xfrm>
          <a:prstGeom prst="roundRect">
            <a:avLst/>
          </a:prstGeom>
          <a:noFill/>
          <a:ln w="127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52344" y="23865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</a:defRPr>
            </a:pPr>
            <a:r>
              <a:t>Sub-Agents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51176" y="2075688"/>
            <a:ext cx="219456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84248" y="2606040"/>
            <a:ext cx="157276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93392" y="266547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003459"/>
                </a:solidFill>
              </a:defRPr>
            </a:pPr>
            <a:r>
              <a:t>Context Isolation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277063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Inter-agent messages ≠ shared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67128" y="2935224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4328" y="2935224"/>
            <a:ext cx="512064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007EA7"/>
                </a:solidFill>
              </a:defRPr>
            </a:pPr>
            <a:r>
              <a:t>OPS.1.1.5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325983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Each agent: distinct identity,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336956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scoped context, auditable chain.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347929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Proposer ≠ Approver.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3861" y="989230"/>
            <a:ext cx="2682000" cy="2834640"/>
          </a:xfrm>
          <a:prstGeom prst="roundRect">
            <a:avLst>
              <a:gd name="adj" fmla="val 8071"/>
            </a:avLst>
          </a:prstGeom>
          <a:noFill/>
          <a:ln w="25400">
            <a:solidFill>
              <a:srgbClr val="0034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31335" y="978408"/>
            <a:ext cx="2706624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41648" y="1060704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EXECUTION SANDBOX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87368" y="1325880"/>
            <a:ext cx="219456" cy="146304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22776" y="15361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334155"/>
                </a:solidFill>
              </a:defRPr>
            </a:pPr>
            <a:r>
              <a:t>Ephemeral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2776" y="16276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334155"/>
                </a:solidFill>
              </a:defRPr>
            </a:pPr>
            <a:r>
              <a:t>Container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3128" y="1325880"/>
            <a:ext cx="914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71416" y="1408176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3459"/>
                </a:solidFill>
              </a:defRPr>
            </a:pPr>
            <a:r>
              <a:t>Process Isolation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152704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Read-only rootfs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161848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Non-root · Ephemeral · Signed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13832" y="1325880"/>
            <a:ext cx="914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32120" y="1408176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3459"/>
                </a:solidFill>
              </a:defRPr>
            </a:pPr>
            <a:r>
              <a:t>Resource Limits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152704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Token budget · CPU/mem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161848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Max time · Cost ceiling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1892807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965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🛡 Guardrails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2089404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Input filter · Output filter · Action policy · Injection detection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79592" y="1947672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77639" y="2313432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44568" y="238658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📋 Tool Registry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251002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Catalogued · Risk-rated · Versioned · Per-agent authorisation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79592" y="2368296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77639" y="2734056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44568" y="280720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🔒 Network Policy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5112" y="29306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Egress whitelist · No unauth outbound · Infra-level enforcement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79592" y="278892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1688" y="3154680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18888" y="315468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0208" y="3442716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Ephemeral containers. Signed images. Least privilege.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50208" y="355244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Every tool invocation through the registry gate.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50208" y="366217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Circuit breakers halt runaway agents.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56232" y="3959352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856232" y="3959352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947672" y="404164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RAG PIPELINE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57400" y="4325112"/>
            <a:ext cx="256032" cy="292608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56816" y="46817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Documents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350008" y="4471416"/>
            <a:ext cx="182880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2587752" y="4325112"/>
            <a:ext cx="329184" cy="292608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60904" y="43525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3459"/>
                </a:solidFill>
              </a:defRPr>
            </a:pPr>
            <a:r>
              <a:t>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78024" y="46817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Vector Store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953512" y="4471416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136392" y="4325112"/>
            <a:ext cx="438912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154680" y="439826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003459"/>
                </a:solidFill>
              </a:defRPr>
            </a:pPr>
            <a:r>
              <a:t>Retrieval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54680" y="448970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003459"/>
                </a:solidFill>
              </a:defRPr>
            </a:pPr>
            <a:r>
              <a:t>Filter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81528" y="46817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Authz Gate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93976" y="4892040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551176" y="489204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9112" y="516178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Encrypted. Provenance-tracked.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39112" y="52715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Role-filtered retrieval.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84264" y="978408"/>
            <a:ext cx="1828800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684264" y="978408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775704" y="106070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ENTERPRISE TOOLS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48856" y="1362456"/>
            <a:ext cx="329184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76288" y="143560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{ 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30568" y="1682495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APIs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70648" y="1362456"/>
            <a:ext cx="256032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488936" y="1435607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DB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24344" y="1682495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Databases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037575" y="1362456"/>
            <a:ext cx="329184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065008" y="143560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&gt;_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27848" y="1682495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Code Exec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48856" y="1874520"/>
            <a:ext cx="1536192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85432" y="195224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007EA7"/>
                </a:solidFill>
              </a:defRPr>
            </a:pPr>
            <a:r>
              <a:t>MCP Servers · Plugins · Functions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5432" y="20574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Each vetted, versioned, risk-rated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940296" y="2221992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34071" y="2221992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84264" y="2660904"/>
            <a:ext cx="1828800" cy="11521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684264" y="2660904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75704" y="2743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MODEL PROVIDER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24344" y="3099816"/>
            <a:ext cx="402336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251192" y="330098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</a:defRPr>
            </a:pPr>
            <a:r>
              <a:t>Model API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85432" y="341985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</a:defRPr>
            </a:pPr>
            <a:r>
              <a:t>(Anthropic / OpenAI / etc.)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940296" y="3575304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34071" y="3575304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59368" y="989230"/>
            <a:ext cx="1682496" cy="2834640"/>
          </a:xfrm>
          <a:prstGeom prst="roundRect">
            <a:avLst>
              <a:gd name="adj" fmla="val 11200"/>
            </a:avLst>
          </a:prstGeom>
          <a:solidFill>
            <a:srgbClr val="FFF5F5"/>
          </a:solidFill>
          <a:ln w="1905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659368" y="978408"/>
            <a:ext cx="1682496" cy="25603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723376" y="106070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THREAT LANDSCAPE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96528" y="134873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C0392B"/>
                </a:solidFill>
              </a:defRPr>
            </a:pPr>
            <a:r>
              <a:t>OWASP Agentic Top 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96528" y="153619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ASI-01  Agent Goal Hijack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96528" y="1682495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ASI-02  Tool Misuse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96528" y="18288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ASI-03  Identity &amp; Privilege Abuse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96528" y="197510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ASI-04  Cascading Hallucination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796528" y="212140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rPr dirty="0"/>
              <a:t>ASI-05  Memory Corruption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96528" y="226771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ASI-09  Excessive Autonomy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96528" y="24140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ASI-10  Cross-Agent Trust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796528" y="2606040"/>
            <a:ext cx="1417320" cy="0"/>
          </a:xfrm>
          <a:prstGeom prst="line">
            <a:avLst/>
          </a:prstGeom>
          <a:ln w="63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8796528" y="270205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C0392B"/>
                </a:solidFill>
              </a:defRPr>
            </a:pPr>
            <a:r>
              <a:t>Additional Threats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96528" y="28712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RAG retrieval poisoning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96528" y="30175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Framework supply chain CVEs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796528" y="316382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Runaway resource consumption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796528" y="331012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Guardrail bypass (indirect)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96528" y="345643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Shadow agent deployment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796528" y="360273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Agent credential theft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8549640" y="1691639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8549640" y="2423160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8549640" y="3246120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3843861" y="3970174"/>
            <a:ext cx="2682000" cy="736092"/>
          </a:xfrm>
          <a:prstGeom prst="roundRect">
            <a:avLst>
              <a:gd name="adj" fmla="val 20342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3831335" y="3959352"/>
            <a:ext cx="2706624" cy="25603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904487" y="4041648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KILL SWITCH &amp; INCIDENT RESPONSE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04487" y="429768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7F1D1D"/>
                </a:solidFill>
              </a:defRPr>
            </a:pPr>
            <a:r>
              <a:t>Halt agent · Revoke credentials · Preserve state · Audit trail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956048" y="4416552"/>
            <a:ext cx="475488" cy="146304"/>
          </a:xfrm>
          <a:prstGeom prst="roundRect">
            <a:avLst/>
          </a:prstGeom>
          <a:solidFill>
            <a:srgbClr val="C0392B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C0392B"/>
                </a:solidFill>
              </a:defRPr>
            </a:pPr>
            <a:r>
              <a:t>DER.2.1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856232" y="5586984"/>
            <a:ext cx="8485632" cy="548640"/>
          </a:xfrm>
          <a:prstGeom prst="roundRect">
            <a:avLst/>
          </a:prstGeom>
          <a:solidFill>
            <a:srgbClr val="00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352800" y="5632703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CONTINUOUS MONITORING, AUDIT &amp; OBSERVABILITY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355848" y="5879592"/>
            <a:ext cx="548640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OPS.1.1.5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087368" y="5879592"/>
            <a:ext cx="475488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DER.1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727448" y="5879592"/>
            <a:ext cx="475488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DER.2.1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88406" y="5925312"/>
            <a:ext cx="2650084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Token usage · Cost tracking · Anomaly detection · Delegation chains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685032" y="2057400"/>
            <a:ext cx="146303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537960" y="1645920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6537960" y="1965960"/>
            <a:ext cx="146304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537960" y="3063240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6537960" y="3337560"/>
            <a:ext cx="146304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355848" y="3813048"/>
            <a:ext cx="932688" cy="146304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856232" y="629107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34155"/>
                </a:solidFill>
              </a:defRPr>
            </a:pPr>
            <a:r>
              <a:t>SP-047: Secure Agentic AI Frameworks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56232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12 BSI IT-Grundschutz controls (critical, agentic AI specific)  ·  Authors: Aurelius, Vitruvius  ·  Draft  ·  2026-02-17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5952744" y="6446520"/>
            <a:ext cx="292608" cy="0"/>
          </a:xfrm>
          <a:prstGeom prst="line">
            <a:avLst/>
          </a:prstGeom>
          <a:ln w="19050">
            <a:solidFill>
              <a:srgbClr val="003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6300216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Control flow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867144" y="6446520"/>
            <a:ext cx="292608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7214616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Data / response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872983" y="6373368"/>
            <a:ext cx="365760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BSI.x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93608" y="64145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BSI Grundschutz Baustein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9299448" y="6446520"/>
            <a:ext cx="29260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9646920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Threat vector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341863" y="640994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opensecurityarchitecture.org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bad0d50-9cbb-471c-bae7-38b20ec0f1f9}" enabled="1" method="Standard" siteId="{35aa8c5b-ac0a-4b15-9788-ff6dfa2290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354</Words>
  <Application>Microsoft Macintosh PowerPoint</Application>
  <PresentationFormat>Widescreen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Christen, Tobias-MGB</cp:lastModifiedBy>
  <cp:revision>2</cp:revision>
  <dcterms:created xsi:type="dcterms:W3CDTF">2013-01-27T09:14:16Z</dcterms:created>
  <dcterms:modified xsi:type="dcterms:W3CDTF">2026-02-17T09:30:56Z</dcterms:modified>
  <cp:category/>
</cp:coreProperties>
</file>