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709928" y="137160"/>
            <a:ext cx="8778240" cy="6583680"/>
          </a:xfrm>
          <a:prstGeom prst="round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856232" y="283464"/>
            <a:ext cx="8485632" cy="548640"/>
          </a:xfrm>
          <a:prstGeom prst="roundRect">
            <a:avLst/>
          </a:prstGeom>
          <a:solidFill>
            <a:srgbClr val="0017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355848" y="393192"/>
            <a:ext cx="5486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AGENT LIFECYCLE &amp; DEPLOYMENT GOVERNANCE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856232" y="978408"/>
            <a:ext cx="1828800" cy="2834640"/>
          </a:xfrm>
          <a:prstGeom prst="roundRect">
            <a:avLst/>
          </a:prstGeom>
          <a:noFill/>
          <a:ln w="25400">
            <a:solidFill>
              <a:srgbClr val="007EA7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856232" y="978408"/>
            <a:ext cx="1828800" cy="256032"/>
          </a:xfrm>
          <a:prstGeom prst="roundRect">
            <a:avLst/>
          </a:prstGeom>
          <a:solidFill>
            <a:srgbClr val="007E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947672" y="1060704"/>
            <a:ext cx="1645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AGENTIC FRAMEWORK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984248" y="1344168"/>
            <a:ext cx="786384" cy="182880"/>
          </a:xfrm>
          <a:prstGeom prst="round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011680" y="1408176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 b="1">
                <a:solidFill>
                  <a:srgbClr val="007EA7"/>
                </a:solidFill>
              </a:defRPr>
            </a:pPr>
            <a:r>
              <a:t>LangChain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807208" y="1344168"/>
            <a:ext cx="749808" cy="182880"/>
          </a:xfrm>
          <a:prstGeom prst="round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816352" y="1408176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 b="1">
                <a:solidFill>
                  <a:srgbClr val="007EA7"/>
                </a:solidFill>
              </a:defRPr>
            </a:pPr>
            <a:r>
              <a:t>CrewAI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984248" y="1563624"/>
            <a:ext cx="786384" cy="182880"/>
          </a:xfrm>
          <a:prstGeom prst="round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011680" y="1627632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 b="1">
                <a:solidFill>
                  <a:srgbClr val="007EA7"/>
                </a:solidFill>
              </a:defRPr>
            </a:pPr>
            <a:r>
              <a:t>AutoGen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807208" y="1563624"/>
            <a:ext cx="749808" cy="182880"/>
          </a:xfrm>
          <a:prstGeom prst="round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816352" y="1627632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 b="1">
                <a:solidFill>
                  <a:srgbClr val="007EA7"/>
                </a:solidFill>
              </a:defRPr>
            </a:pPr>
            <a:r>
              <a:t>LangGraph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148840" y="1892807"/>
            <a:ext cx="365760" cy="438912"/>
          </a:xfrm>
          <a:prstGeom prst="roundRect">
            <a:avLst/>
          </a:prstGeom>
          <a:noFill/>
          <a:ln w="25400">
            <a:solidFill>
              <a:srgbClr val="007EA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965960" y="2386584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 b="1">
                <a:solidFill>
                  <a:srgbClr val="334155"/>
                </a:solidFill>
              </a:defRPr>
            </a:pPr>
            <a:r>
              <a:t>Orchestrator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807208" y="1929384"/>
            <a:ext cx="256032" cy="292608"/>
          </a:xfrm>
          <a:prstGeom prst="roundRect">
            <a:avLst/>
          </a:prstGeom>
          <a:noFill/>
          <a:ln w="19050">
            <a:solidFill>
              <a:srgbClr val="007EA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3118104" y="1929384"/>
            <a:ext cx="256032" cy="292608"/>
          </a:xfrm>
          <a:prstGeom prst="roundRect">
            <a:avLst/>
          </a:prstGeom>
          <a:noFill/>
          <a:ln w="19050">
            <a:solidFill>
              <a:srgbClr val="007EA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3429000" y="1929384"/>
            <a:ext cx="146304" cy="292608"/>
          </a:xfrm>
          <a:prstGeom prst="roundRect">
            <a:avLst/>
          </a:prstGeom>
          <a:noFill/>
          <a:ln w="12700">
            <a:solidFill>
              <a:srgbClr val="007EA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752344" y="2386584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 b="1">
                <a:solidFill>
                  <a:srgbClr val="334155"/>
                </a:solidFill>
              </a:defRPr>
            </a:pPr>
            <a:r>
              <a:t>Sub-Agents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2551176" y="2075688"/>
            <a:ext cx="219456" cy="0"/>
          </a:xfrm>
          <a:prstGeom prst="line">
            <a:avLst/>
          </a:prstGeom>
          <a:ln w="19050">
            <a:solidFill>
              <a:srgbClr val="007EA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1984248" y="2606040"/>
            <a:ext cx="1572768" cy="256032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0034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993392" y="2665476"/>
            <a:ext cx="15544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50" b="1">
                <a:solidFill>
                  <a:srgbClr val="003459"/>
                </a:solidFill>
              </a:defRPr>
            </a:pPr>
            <a:r>
              <a:t>Context Isolation Boundary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993392" y="2770632"/>
            <a:ext cx="15544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00" b="0">
                <a:solidFill>
                  <a:srgbClr val="64748B"/>
                </a:solidFill>
              </a:defRPr>
            </a:pPr>
            <a:r>
              <a:t>Inter-agent messages ≠ shared context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167128" y="2935224"/>
            <a:ext cx="402336" cy="146304"/>
          </a:xfrm>
          <a:prstGeom prst="roundRect">
            <a:avLst/>
          </a:prstGeom>
          <a:solidFill>
            <a:srgbClr val="007EA7">
              <a:lumMod val="30000"/>
              <a:lumOff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700" b="1">
                <a:solidFill>
                  <a:srgbClr val="007EA7"/>
                </a:solidFill>
              </a:defRPr>
            </a:pPr>
            <a:r>
              <a:t>ORP.4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624328" y="2935224"/>
            <a:ext cx="512064" cy="146304"/>
          </a:xfrm>
          <a:prstGeom prst="roundRect">
            <a:avLst/>
          </a:prstGeom>
          <a:solidFill>
            <a:srgbClr val="007EA7">
              <a:lumMod val="30000"/>
              <a:lumOff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650" b="1">
                <a:solidFill>
                  <a:srgbClr val="007EA7"/>
                </a:solidFill>
              </a:defRPr>
            </a:pPr>
            <a:r>
              <a:t>OPS.1.1.5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039112" y="3259836"/>
            <a:ext cx="14630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50" b="0">
                <a:solidFill>
                  <a:srgbClr val="475569"/>
                </a:solidFill>
              </a:defRPr>
            </a:pPr>
            <a:r>
              <a:t>Each agent: distinct identity,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039112" y="3369564"/>
            <a:ext cx="14630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50" b="0">
                <a:solidFill>
                  <a:srgbClr val="475569"/>
                </a:solidFill>
              </a:defRPr>
            </a:pPr>
            <a:r>
              <a:t>scoped context, auditable chain.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039112" y="3479292"/>
            <a:ext cx="14630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50" b="0">
                <a:solidFill>
                  <a:srgbClr val="475569"/>
                </a:solidFill>
              </a:defRPr>
            </a:pPr>
            <a:r>
              <a:t>Proposer ≠ Approver.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831335" y="978408"/>
            <a:ext cx="2706624" cy="2834640"/>
          </a:xfrm>
          <a:prstGeom prst="roundRect">
            <a:avLst/>
          </a:prstGeom>
          <a:noFill/>
          <a:ln w="25400">
            <a:solidFill>
              <a:srgbClr val="00345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3831335" y="978408"/>
            <a:ext cx="2706624" cy="256032"/>
          </a:xfrm>
          <a:prstGeom prst="roundRect">
            <a:avLst/>
          </a:prstGeom>
          <a:solidFill>
            <a:srgbClr val="0034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041648" y="1060704"/>
            <a:ext cx="2286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EXECUTION SANDBOX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087368" y="1325880"/>
            <a:ext cx="219456" cy="146304"/>
          </a:xfrm>
          <a:prstGeom prst="roundRect">
            <a:avLst/>
          </a:prstGeom>
          <a:noFill/>
          <a:ln w="19050">
            <a:solidFill>
              <a:srgbClr val="0034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922776" y="1536192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 b="1">
                <a:solidFill>
                  <a:srgbClr val="334155"/>
                </a:solidFill>
              </a:defRPr>
            </a:pPr>
            <a:r>
              <a:t>Ephemeral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922776" y="1627632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 b="1">
                <a:solidFill>
                  <a:srgbClr val="334155"/>
                </a:solidFill>
              </a:defRPr>
            </a:pPr>
            <a:r>
              <a:t>Container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453128" y="1325880"/>
            <a:ext cx="914400" cy="438912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0034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471416" y="1408176"/>
            <a:ext cx="877824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 b="1">
                <a:solidFill>
                  <a:srgbClr val="003459"/>
                </a:solidFill>
              </a:defRPr>
            </a:pPr>
            <a:r>
              <a:t>Process Isolation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471416" y="1527048"/>
            <a:ext cx="877824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00" b="0">
                <a:solidFill>
                  <a:srgbClr val="64748B"/>
                </a:solidFill>
              </a:defRPr>
            </a:pPr>
            <a:r>
              <a:t>Read-only rootfs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471416" y="1618488"/>
            <a:ext cx="877824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00" b="0">
                <a:solidFill>
                  <a:srgbClr val="64748B"/>
                </a:solidFill>
              </a:defRPr>
            </a:pPr>
            <a:r>
              <a:t>Non-root · Ephemeral · Signed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513832" y="1325880"/>
            <a:ext cx="914400" cy="438912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0034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532120" y="1408176"/>
            <a:ext cx="877824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 b="1">
                <a:solidFill>
                  <a:srgbClr val="003459"/>
                </a:solidFill>
              </a:defRPr>
            </a:pPr>
            <a:r>
              <a:t>Resource Limits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532120" y="1527048"/>
            <a:ext cx="877824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00" b="0">
                <a:solidFill>
                  <a:srgbClr val="64748B"/>
                </a:solidFill>
              </a:defRPr>
            </a:pPr>
            <a:r>
              <a:t>Token budget · CPU/mem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532120" y="1618488"/>
            <a:ext cx="877824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00" b="0">
                <a:solidFill>
                  <a:srgbClr val="64748B"/>
                </a:solidFill>
              </a:defRPr>
            </a:pPr>
            <a:r>
              <a:t>Max time · Cost ceiling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3977639" y="1892807"/>
            <a:ext cx="2414016" cy="329184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0034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544568" y="1965960"/>
            <a:ext cx="14630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 b="1">
                <a:solidFill>
                  <a:srgbClr val="003459"/>
                </a:solidFill>
              </a:defRPr>
            </a:pPr>
            <a:r>
              <a:t>🛡 Guardrails Engine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325112" y="2089404"/>
            <a:ext cx="2286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650" b="0">
                <a:solidFill>
                  <a:srgbClr val="64748B"/>
                </a:solidFill>
              </a:defRPr>
            </a:pPr>
            <a:r>
              <a:t>Input filter · Output filter · Action policy · Injection detection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5879592" y="1947672"/>
            <a:ext cx="438912" cy="146304"/>
          </a:xfrm>
          <a:prstGeom prst="roundRect">
            <a:avLst/>
          </a:prstGeom>
          <a:solidFill>
            <a:srgbClr val="007EA7">
              <a:lumMod val="30000"/>
              <a:lumOff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700" b="1">
                <a:solidFill>
                  <a:srgbClr val="007EA7"/>
                </a:solidFill>
              </a:defRPr>
            </a:pPr>
            <a:r>
              <a:t>APP.3.1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3977639" y="2313432"/>
            <a:ext cx="2414016" cy="329184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0034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544568" y="2386584"/>
            <a:ext cx="14630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 b="1">
                <a:solidFill>
                  <a:srgbClr val="003459"/>
                </a:solidFill>
              </a:defRPr>
            </a:pPr>
            <a:r>
              <a:t>📋 Tool Registry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325112" y="2510028"/>
            <a:ext cx="2286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650" b="0">
                <a:solidFill>
                  <a:srgbClr val="64748B"/>
                </a:solidFill>
              </a:defRPr>
            </a:pPr>
            <a:r>
              <a:t>Catalogued · Risk-rated · Versioned · Per-agent authorisation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5879592" y="2368296"/>
            <a:ext cx="438912" cy="146304"/>
          </a:xfrm>
          <a:prstGeom prst="roundRect">
            <a:avLst/>
          </a:prstGeom>
          <a:solidFill>
            <a:srgbClr val="007EA7">
              <a:lumMod val="30000"/>
              <a:lumOff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700" b="1">
                <a:solidFill>
                  <a:srgbClr val="007EA7"/>
                </a:solidFill>
              </a:defRPr>
            </a:pPr>
            <a:r>
              <a:t>ORP.4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3977639" y="2734056"/>
            <a:ext cx="2414016" cy="329184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0034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544568" y="2807208"/>
            <a:ext cx="14630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 b="1">
                <a:solidFill>
                  <a:srgbClr val="003459"/>
                </a:solidFill>
              </a:defRPr>
            </a:pPr>
            <a:r>
              <a:t>🔒 Network Policy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325112" y="2930652"/>
            <a:ext cx="2286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650" b="0">
                <a:solidFill>
                  <a:srgbClr val="64748B"/>
                </a:solidFill>
              </a:defRPr>
            </a:pPr>
            <a:r>
              <a:t>Egress whitelist · No unauth outbound · Infra-level enforcement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5879592" y="2788920"/>
            <a:ext cx="438912" cy="146304"/>
          </a:xfrm>
          <a:prstGeom prst="roundRect">
            <a:avLst/>
          </a:prstGeom>
          <a:solidFill>
            <a:srgbClr val="007EA7">
              <a:lumMod val="30000"/>
              <a:lumOff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700" b="1">
                <a:solidFill>
                  <a:srgbClr val="007EA7"/>
                </a:solidFill>
              </a:defRPr>
            </a:pPr>
            <a:r>
              <a:t>NET.1.1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4361688" y="3154680"/>
            <a:ext cx="402336" cy="146304"/>
          </a:xfrm>
          <a:prstGeom prst="roundRect">
            <a:avLst/>
          </a:prstGeom>
          <a:solidFill>
            <a:srgbClr val="007EA7">
              <a:lumMod val="30000"/>
              <a:lumOff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700" b="1">
                <a:solidFill>
                  <a:srgbClr val="007EA7"/>
                </a:solidFill>
              </a:defRPr>
            </a:pPr>
            <a:r>
              <a:t>ORP.4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4818888" y="3154680"/>
            <a:ext cx="438912" cy="146304"/>
          </a:xfrm>
          <a:prstGeom prst="roundRect">
            <a:avLst/>
          </a:prstGeom>
          <a:solidFill>
            <a:srgbClr val="007EA7">
              <a:lumMod val="30000"/>
              <a:lumOff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700" b="1">
                <a:solidFill>
                  <a:srgbClr val="007EA7"/>
                </a:solidFill>
              </a:defRPr>
            </a:pPr>
            <a:r>
              <a:t>NET.1.2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950208" y="3442716"/>
            <a:ext cx="24688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50" b="0">
                <a:solidFill>
                  <a:srgbClr val="475569"/>
                </a:solidFill>
              </a:defRPr>
            </a:pPr>
            <a:r>
              <a:t>Ephemeral containers. Signed images. Least privilege.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950208" y="3552444"/>
            <a:ext cx="24688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50" b="0">
                <a:solidFill>
                  <a:srgbClr val="475569"/>
                </a:solidFill>
              </a:defRPr>
            </a:pPr>
            <a:r>
              <a:t>Every tool invocation through the registry gate.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3950208" y="3662172"/>
            <a:ext cx="24688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50" b="0">
                <a:solidFill>
                  <a:srgbClr val="475569"/>
                </a:solidFill>
              </a:defRPr>
            </a:pPr>
            <a:r>
              <a:t>Circuit breakers halt runaway agents.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1856232" y="3959352"/>
            <a:ext cx="1828800" cy="14630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ounded Rectangle 62"/>
          <p:cNvSpPr/>
          <p:nvPr/>
        </p:nvSpPr>
        <p:spPr>
          <a:xfrm>
            <a:off x="1856232" y="3959352"/>
            <a:ext cx="1828800" cy="256032"/>
          </a:xfrm>
          <a:prstGeom prst="roundRect">
            <a:avLst/>
          </a:prstGeom>
          <a:solidFill>
            <a:srgbClr val="0034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1947672" y="4041648"/>
            <a:ext cx="1645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RAG PIPELINE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2057400" y="4325112"/>
            <a:ext cx="256032" cy="292608"/>
          </a:xfrm>
          <a:prstGeom prst="roundRect">
            <a:avLst/>
          </a:prstGeom>
          <a:noFill/>
          <a:ln w="19050">
            <a:solidFill>
              <a:srgbClr val="0034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956816" y="4681728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 b="0">
                <a:solidFill>
                  <a:srgbClr val="334155"/>
                </a:solidFill>
              </a:defRPr>
            </a:pPr>
            <a:r>
              <a:t>Documents</a:t>
            </a:r>
          </a:p>
        </p:txBody>
      </p:sp>
      <p:cxnSp>
        <p:nvCxnSpPr>
          <p:cNvPr id="67" name="Connector 66"/>
          <p:cNvCxnSpPr/>
          <p:nvPr/>
        </p:nvCxnSpPr>
        <p:spPr>
          <a:xfrm>
            <a:off x="2350008" y="4471416"/>
            <a:ext cx="182880" cy="0"/>
          </a:xfrm>
          <a:prstGeom prst="line">
            <a:avLst/>
          </a:prstGeom>
          <a:ln w="19050">
            <a:solidFill>
              <a:srgbClr val="007EA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Rounded Rectangle 67"/>
          <p:cNvSpPr/>
          <p:nvPr/>
        </p:nvSpPr>
        <p:spPr>
          <a:xfrm>
            <a:off x="2587752" y="4325112"/>
            <a:ext cx="329184" cy="292608"/>
          </a:xfrm>
          <a:prstGeom prst="roundRect">
            <a:avLst/>
          </a:prstGeom>
          <a:noFill/>
          <a:ln w="19050">
            <a:solidFill>
              <a:srgbClr val="0034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2660904" y="4352544"/>
            <a:ext cx="1828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solidFill>
                  <a:srgbClr val="003459"/>
                </a:solidFill>
              </a:defRPr>
            </a:pPr>
            <a:r>
              <a:t>V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2478024" y="4681728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 b="0">
                <a:solidFill>
                  <a:srgbClr val="334155"/>
                </a:solidFill>
              </a:defRPr>
            </a:pPr>
            <a:r>
              <a:t>Vector Store</a:t>
            </a:r>
          </a:p>
        </p:txBody>
      </p:sp>
      <p:cxnSp>
        <p:nvCxnSpPr>
          <p:cNvPr id="71" name="Connector 70"/>
          <p:cNvCxnSpPr/>
          <p:nvPr/>
        </p:nvCxnSpPr>
        <p:spPr>
          <a:xfrm>
            <a:off x="2953512" y="4471416"/>
            <a:ext cx="146304" cy="0"/>
          </a:xfrm>
          <a:prstGeom prst="line">
            <a:avLst/>
          </a:prstGeom>
          <a:ln w="19050">
            <a:solidFill>
              <a:srgbClr val="007EA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" name="Rounded Rectangle 71"/>
          <p:cNvSpPr/>
          <p:nvPr/>
        </p:nvSpPr>
        <p:spPr>
          <a:xfrm>
            <a:off x="3136392" y="4325112"/>
            <a:ext cx="438912" cy="292608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0034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3154680" y="4398264"/>
            <a:ext cx="402336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00" b="1">
                <a:solidFill>
                  <a:srgbClr val="003459"/>
                </a:solidFill>
              </a:defRPr>
            </a:pPr>
            <a:r>
              <a:t>Retrieval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3154680" y="4489704"/>
            <a:ext cx="402336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00" b="1">
                <a:solidFill>
                  <a:srgbClr val="003459"/>
                </a:solidFill>
              </a:defRPr>
            </a:pPr>
            <a:r>
              <a:t>Filter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3081528" y="4681728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 b="0">
                <a:solidFill>
                  <a:srgbClr val="334155"/>
                </a:solidFill>
              </a:defRPr>
            </a:pPr>
            <a:r>
              <a:t>Authz Gate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2093976" y="4892040"/>
            <a:ext cx="402336" cy="146304"/>
          </a:xfrm>
          <a:prstGeom prst="roundRect">
            <a:avLst/>
          </a:prstGeom>
          <a:solidFill>
            <a:srgbClr val="007EA7">
              <a:lumMod val="30000"/>
              <a:lumOff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700" b="1">
                <a:solidFill>
                  <a:srgbClr val="007EA7"/>
                </a:solidFill>
              </a:defRPr>
            </a:pPr>
            <a:r>
              <a:t>ORP.4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2551176" y="4892040"/>
            <a:ext cx="438912" cy="146304"/>
          </a:xfrm>
          <a:prstGeom prst="roundRect">
            <a:avLst/>
          </a:prstGeom>
          <a:solidFill>
            <a:srgbClr val="007EA7">
              <a:lumMod val="30000"/>
              <a:lumOff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700" b="1">
                <a:solidFill>
                  <a:srgbClr val="007EA7"/>
                </a:solidFill>
              </a:defRPr>
            </a:pPr>
            <a:r>
              <a:t>APP.3.1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2039112" y="5161788"/>
            <a:ext cx="14630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50" b="0">
                <a:solidFill>
                  <a:srgbClr val="475569"/>
                </a:solidFill>
              </a:defRPr>
            </a:pPr>
            <a:r>
              <a:t>Encrypted. Provenance-tracked.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2039112" y="5271516"/>
            <a:ext cx="14630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50" b="0">
                <a:solidFill>
                  <a:srgbClr val="475569"/>
                </a:solidFill>
              </a:defRPr>
            </a:pPr>
            <a:r>
              <a:t>Role-filtered retrieval.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6684264" y="978408"/>
            <a:ext cx="1828800" cy="153619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ounded Rectangle 80"/>
          <p:cNvSpPr/>
          <p:nvPr/>
        </p:nvSpPr>
        <p:spPr>
          <a:xfrm>
            <a:off x="6684264" y="978408"/>
            <a:ext cx="1828800" cy="256032"/>
          </a:xfrm>
          <a:prstGeom prst="roundRect">
            <a:avLst/>
          </a:prstGeom>
          <a:solidFill>
            <a:srgbClr val="0034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6775704" y="1060704"/>
            <a:ext cx="1645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ENTERPRISE TOOLS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6848856" y="1362456"/>
            <a:ext cx="329184" cy="256032"/>
          </a:xfrm>
          <a:prstGeom prst="roundRect">
            <a:avLst/>
          </a:prstGeom>
          <a:noFill/>
          <a:ln w="19050">
            <a:solidFill>
              <a:srgbClr val="0034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6876288" y="1435607"/>
            <a:ext cx="2743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 b="1">
                <a:solidFill>
                  <a:srgbClr val="003459"/>
                </a:solidFill>
              </a:defRPr>
            </a:pPr>
            <a:r>
              <a:t>{ }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6830568" y="1682495"/>
            <a:ext cx="3657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 b="0">
                <a:solidFill>
                  <a:srgbClr val="334155"/>
                </a:solidFill>
              </a:defRPr>
            </a:pPr>
            <a:r>
              <a:t>APIs</a:t>
            </a:r>
          </a:p>
        </p:txBody>
      </p:sp>
      <p:sp>
        <p:nvSpPr>
          <p:cNvPr id="86" name="Rounded Rectangle 85"/>
          <p:cNvSpPr/>
          <p:nvPr/>
        </p:nvSpPr>
        <p:spPr>
          <a:xfrm>
            <a:off x="7470648" y="1362456"/>
            <a:ext cx="256032" cy="256032"/>
          </a:xfrm>
          <a:prstGeom prst="roundRect">
            <a:avLst/>
          </a:prstGeom>
          <a:noFill/>
          <a:ln w="19050">
            <a:solidFill>
              <a:srgbClr val="0034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7488936" y="1435607"/>
            <a:ext cx="219456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 b="1">
                <a:solidFill>
                  <a:srgbClr val="003459"/>
                </a:solidFill>
              </a:defRPr>
            </a:pPr>
            <a:r>
              <a:t>DB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7324344" y="1682495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 b="0">
                <a:solidFill>
                  <a:srgbClr val="334155"/>
                </a:solidFill>
              </a:defRPr>
            </a:pPr>
            <a:r>
              <a:t>Databases</a:t>
            </a:r>
          </a:p>
        </p:txBody>
      </p:sp>
      <p:sp>
        <p:nvSpPr>
          <p:cNvPr id="89" name="Rounded Rectangle 88"/>
          <p:cNvSpPr/>
          <p:nvPr/>
        </p:nvSpPr>
        <p:spPr>
          <a:xfrm>
            <a:off x="8037575" y="1362456"/>
            <a:ext cx="329184" cy="256032"/>
          </a:xfrm>
          <a:prstGeom prst="roundRect">
            <a:avLst/>
          </a:prstGeom>
          <a:noFill/>
          <a:ln w="19050">
            <a:solidFill>
              <a:srgbClr val="0034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8065008" y="1435607"/>
            <a:ext cx="2743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 b="1">
                <a:solidFill>
                  <a:srgbClr val="003459"/>
                </a:solidFill>
              </a:defRPr>
            </a:pPr>
            <a:r>
              <a:t>&gt;_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7927848" y="1682495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 b="0">
                <a:solidFill>
                  <a:srgbClr val="334155"/>
                </a:solidFill>
              </a:defRPr>
            </a:pPr>
            <a:r>
              <a:t>Code Exec</a:t>
            </a:r>
          </a:p>
        </p:txBody>
      </p:sp>
      <p:sp>
        <p:nvSpPr>
          <p:cNvPr id="92" name="Rounded Rectangle 91"/>
          <p:cNvSpPr/>
          <p:nvPr/>
        </p:nvSpPr>
        <p:spPr>
          <a:xfrm>
            <a:off x="6848856" y="1874520"/>
            <a:ext cx="1536192" cy="256032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007EA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6885432" y="1952244"/>
            <a:ext cx="14630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50" b="1">
                <a:solidFill>
                  <a:srgbClr val="007EA7"/>
                </a:solidFill>
              </a:defRPr>
            </a:pPr>
            <a:r>
              <a:t>MCP Servers · Plugins · Functions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6885432" y="2057400"/>
            <a:ext cx="14630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00" b="0">
                <a:solidFill>
                  <a:srgbClr val="64748B"/>
                </a:solidFill>
              </a:defRPr>
            </a:pPr>
            <a:r>
              <a:t>Each vetted, versioned, risk-rated</a:t>
            </a:r>
          </a:p>
        </p:txBody>
      </p:sp>
      <p:sp>
        <p:nvSpPr>
          <p:cNvPr id="95" name="Rounded Rectangle 94"/>
          <p:cNvSpPr/>
          <p:nvPr/>
        </p:nvSpPr>
        <p:spPr>
          <a:xfrm>
            <a:off x="6940296" y="2221992"/>
            <a:ext cx="438912" cy="146304"/>
          </a:xfrm>
          <a:prstGeom prst="roundRect">
            <a:avLst/>
          </a:prstGeom>
          <a:solidFill>
            <a:srgbClr val="007EA7">
              <a:lumMod val="30000"/>
              <a:lumOff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700" b="1">
                <a:solidFill>
                  <a:srgbClr val="007EA7"/>
                </a:solidFill>
              </a:defRPr>
            </a:pPr>
            <a:r>
              <a:t>APP.3.1</a:t>
            </a:r>
          </a:p>
        </p:txBody>
      </p:sp>
      <p:sp>
        <p:nvSpPr>
          <p:cNvPr id="96" name="Rounded Rectangle 95"/>
          <p:cNvSpPr/>
          <p:nvPr/>
        </p:nvSpPr>
        <p:spPr>
          <a:xfrm>
            <a:off x="7434071" y="2221992"/>
            <a:ext cx="402336" cy="146304"/>
          </a:xfrm>
          <a:prstGeom prst="roundRect">
            <a:avLst/>
          </a:prstGeom>
          <a:solidFill>
            <a:srgbClr val="007EA7">
              <a:lumMod val="30000"/>
              <a:lumOff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700" b="1">
                <a:solidFill>
                  <a:srgbClr val="007EA7"/>
                </a:solidFill>
              </a:defRPr>
            </a:pPr>
            <a:r>
              <a:t>ORP.4</a:t>
            </a:r>
          </a:p>
        </p:txBody>
      </p:sp>
      <p:sp>
        <p:nvSpPr>
          <p:cNvPr id="97" name="Rounded Rectangle 96"/>
          <p:cNvSpPr/>
          <p:nvPr/>
        </p:nvSpPr>
        <p:spPr>
          <a:xfrm>
            <a:off x="6684264" y="2660904"/>
            <a:ext cx="1828800" cy="1152144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ounded Rectangle 97"/>
          <p:cNvSpPr/>
          <p:nvPr/>
        </p:nvSpPr>
        <p:spPr>
          <a:xfrm>
            <a:off x="6684264" y="2660904"/>
            <a:ext cx="1828800" cy="256032"/>
          </a:xfrm>
          <a:prstGeom prst="roundRect">
            <a:avLst/>
          </a:prstGeom>
          <a:solidFill>
            <a:srgbClr val="0034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6775704" y="2743200"/>
            <a:ext cx="1645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AI MODEL PROVIDER</a:t>
            </a:r>
          </a:p>
        </p:txBody>
      </p:sp>
      <p:sp>
        <p:nvSpPr>
          <p:cNvPr id="100" name="Rounded Rectangle 99"/>
          <p:cNvSpPr/>
          <p:nvPr/>
        </p:nvSpPr>
        <p:spPr>
          <a:xfrm>
            <a:off x="7324344" y="3099816"/>
            <a:ext cx="402336" cy="256032"/>
          </a:xfrm>
          <a:prstGeom prst="roundRect">
            <a:avLst/>
          </a:prstGeom>
          <a:noFill/>
          <a:ln w="19050">
            <a:solidFill>
              <a:srgbClr val="0034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7251192" y="3300984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 b="0">
                <a:solidFill>
                  <a:srgbClr val="334155"/>
                </a:solidFill>
              </a:defRPr>
            </a:pPr>
            <a:r>
              <a:t>Model API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6885432" y="3419856"/>
            <a:ext cx="12801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 b="0">
                <a:solidFill>
                  <a:srgbClr val="64748B"/>
                </a:solidFill>
              </a:defRPr>
            </a:pPr>
            <a:r>
              <a:t>(Anthropic / OpenAI / etc.)</a:t>
            </a:r>
          </a:p>
        </p:txBody>
      </p:sp>
      <p:sp>
        <p:nvSpPr>
          <p:cNvPr id="103" name="Rounded Rectangle 102"/>
          <p:cNvSpPr/>
          <p:nvPr/>
        </p:nvSpPr>
        <p:spPr>
          <a:xfrm>
            <a:off x="6940296" y="3575304"/>
            <a:ext cx="438912" cy="146304"/>
          </a:xfrm>
          <a:prstGeom prst="roundRect">
            <a:avLst/>
          </a:prstGeom>
          <a:solidFill>
            <a:srgbClr val="007EA7">
              <a:lumMod val="30000"/>
              <a:lumOff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700" b="1">
                <a:solidFill>
                  <a:srgbClr val="007EA7"/>
                </a:solidFill>
              </a:defRPr>
            </a:pPr>
            <a:r>
              <a:t>APP.3.1</a:t>
            </a:r>
          </a:p>
        </p:txBody>
      </p:sp>
      <p:sp>
        <p:nvSpPr>
          <p:cNvPr id="104" name="Rounded Rectangle 103"/>
          <p:cNvSpPr/>
          <p:nvPr/>
        </p:nvSpPr>
        <p:spPr>
          <a:xfrm>
            <a:off x="7434071" y="3575304"/>
            <a:ext cx="438912" cy="146304"/>
          </a:xfrm>
          <a:prstGeom prst="roundRect">
            <a:avLst/>
          </a:prstGeom>
          <a:solidFill>
            <a:srgbClr val="007EA7">
              <a:lumMod val="30000"/>
              <a:lumOff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700" b="1">
                <a:solidFill>
                  <a:srgbClr val="007EA7"/>
                </a:solidFill>
              </a:defRPr>
            </a:pPr>
            <a:r>
              <a:t>NET.1.1</a:t>
            </a:r>
          </a:p>
        </p:txBody>
      </p:sp>
      <p:sp>
        <p:nvSpPr>
          <p:cNvPr id="105" name="Rounded Rectangle 104"/>
          <p:cNvSpPr/>
          <p:nvPr/>
        </p:nvSpPr>
        <p:spPr>
          <a:xfrm>
            <a:off x="8659368" y="978408"/>
            <a:ext cx="1682496" cy="2834640"/>
          </a:xfrm>
          <a:prstGeom prst="roundRect">
            <a:avLst/>
          </a:prstGeom>
          <a:solidFill>
            <a:srgbClr val="FFF5F5"/>
          </a:solidFill>
          <a:ln w="19050">
            <a:solidFill>
              <a:srgbClr val="C0392B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ounded Rectangle 105"/>
          <p:cNvSpPr/>
          <p:nvPr/>
        </p:nvSpPr>
        <p:spPr>
          <a:xfrm>
            <a:off x="8659368" y="978408"/>
            <a:ext cx="1682496" cy="256032"/>
          </a:xfrm>
          <a:prstGeom prst="round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8723376" y="1060704"/>
            <a:ext cx="15544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THREAT LANDSCAPE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8796528" y="1348739"/>
            <a:ext cx="14630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50" b="1">
                <a:solidFill>
                  <a:srgbClr val="C0392B"/>
                </a:solidFill>
              </a:defRPr>
            </a:pPr>
            <a:r>
              <a:t>OWASP Agentic Top 10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8796528" y="1536192"/>
            <a:ext cx="14630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 b="0">
                <a:solidFill>
                  <a:srgbClr val="7F1D1D"/>
                </a:solidFill>
              </a:defRPr>
            </a:pPr>
            <a:r>
              <a:t>ASI-01  Agent Goal Hijack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8796528" y="1682495"/>
            <a:ext cx="14630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 b="0">
                <a:solidFill>
                  <a:srgbClr val="7F1D1D"/>
                </a:solidFill>
              </a:defRPr>
            </a:pPr>
            <a:r>
              <a:t>ASI-02  Tool Misuse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8796528" y="1828800"/>
            <a:ext cx="14630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 b="0">
                <a:solidFill>
                  <a:srgbClr val="7F1D1D"/>
                </a:solidFill>
              </a:defRPr>
            </a:pPr>
            <a:r>
              <a:t>ASI-03  Identity &amp; Privilege Abuse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8796528" y="1975104"/>
            <a:ext cx="14630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 b="0">
                <a:solidFill>
                  <a:srgbClr val="7F1D1D"/>
                </a:solidFill>
              </a:defRPr>
            </a:pPr>
            <a:r>
              <a:t>ASI-04  Cascading Hallucination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8796528" y="2121408"/>
            <a:ext cx="14630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 b="0">
                <a:solidFill>
                  <a:srgbClr val="7F1D1D"/>
                </a:solidFill>
              </a:defRPr>
            </a:pPr>
            <a:r>
              <a:t>ASI-05  Memory Corruption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8796528" y="2267712"/>
            <a:ext cx="14630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 b="0">
                <a:solidFill>
                  <a:srgbClr val="7F1D1D"/>
                </a:solidFill>
              </a:defRPr>
            </a:pPr>
            <a:r>
              <a:t>ASI-09  Excessive Autonomy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8796528" y="2414016"/>
            <a:ext cx="14630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 b="0">
                <a:solidFill>
                  <a:srgbClr val="7F1D1D"/>
                </a:solidFill>
              </a:defRPr>
            </a:pPr>
            <a:r>
              <a:t>ASI-10  Cross-Agent Trust</a:t>
            </a:r>
          </a:p>
        </p:txBody>
      </p:sp>
      <p:cxnSp>
        <p:nvCxnSpPr>
          <p:cNvPr id="116" name="Connector 115"/>
          <p:cNvCxnSpPr/>
          <p:nvPr/>
        </p:nvCxnSpPr>
        <p:spPr>
          <a:xfrm>
            <a:off x="8796528" y="2606040"/>
            <a:ext cx="1417320" cy="0"/>
          </a:xfrm>
          <a:prstGeom prst="line">
            <a:avLst/>
          </a:prstGeom>
          <a:ln w="6350">
            <a:solidFill>
              <a:srgbClr val="C039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7" name="TextBox 116"/>
          <p:cNvSpPr txBox="1"/>
          <p:nvPr/>
        </p:nvSpPr>
        <p:spPr>
          <a:xfrm>
            <a:off x="8796528" y="2702052"/>
            <a:ext cx="14630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50" b="1">
                <a:solidFill>
                  <a:srgbClr val="C0392B"/>
                </a:solidFill>
              </a:defRPr>
            </a:pPr>
            <a:r>
              <a:t>Additional Threats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8796528" y="2871216"/>
            <a:ext cx="14630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 b="0">
                <a:solidFill>
                  <a:srgbClr val="7F1D1D"/>
                </a:solidFill>
              </a:defRPr>
            </a:pPr>
            <a:r>
              <a:t>RAG retrieval poisoning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8796528" y="3017520"/>
            <a:ext cx="14630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 b="0">
                <a:solidFill>
                  <a:srgbClr val="7F1D1D"/>
                </a:solidFill>
              </a:defRPr>
            </a:pPr>
            <a:r>
              <a:t>Framework supply chain CVEs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8796528" y="3163824"/>
            <a:ext cx="14630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 b="0">
                <a:solidFill>
                  <a:srgbClr val="7F1D1D"/>
                </a:solidFill>
              </a:defRPr>
            </a:pPr>
            <a:r>
              <a:t>Runaway resource consumption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8796528" y="3310128"/>
            <a:ext cx="14630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 b="0">
                <a:solidFill>
                  <a:srgbClr val="7F1D1D"/>
                </a:solidFill>
              </a:defRPr>
            </a:pPr>
            <a:r>
              <a:t>Guardrail bypass (indirect)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8796528" y="3456432"/>
            <a:ext cx="14630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 b="0">
                <a:solidFill>
                  <a:srgbClr val="7F1D1D"/>
                </a:solidFill>
              </a:defRPr>
            </a:pPr>
            <a:r>
              <a:t>Shadow agent deployment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8796528" y="3602736"/>
            <a:ext cx="14630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 b="0">
                <a:solidFill>
                  <a:srgbClr val="7F1D1D"/>
                </a:solidFill>
              </a:defRPr>
            </a:pPr>
            <a:r>
              <a:t>Agent credential theft</a:t>
            </a:r>
          </a:p>
        </p:txBody>
      </p:sp>
      <p:cxnSp>
        <p:nvCxnSpPr>
          <p:cNvPr id="124" name="Connector 123"/>
          <p:cNvCxnSpPr/>
          <p:nvPr/>
        </p:nvCxnSpPr>
        <p:spPr>
          <a:xfrm flipH="1">
            <a:off x="8549640" y="1691639"/>
            <a:ext cx="109728" cy="0"/>
          </a:xfrm>
          <a:prstGeom prst="line">
            <a:avLst/>
          </a:prstGeom>
          <a:ln w="12700">
            <a:solidFill>
              <a:srgbClr val="C0392B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" name="Connector 124"/>
          <p:cNvCxnSpPr/>
          <p:nvPr/>
        </p:nvCxnSpPr>
        <p:spPr>
          <a:xfrm flipH="1">
            <a:off x="8549640" y="2423160"/>
            <a:ext cx="109728" cy="0"/>
          </a:xfrm>
          <a:prstGeom prst="line">
            <a:avLst/>
          </a:prstGeom>
          <a:ln w="12700">
            <a:solidFill>
              <a:srgbClr val="C0392B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6" name="Connector 125"/>
          <p:cNvCxnSpPr/>
          <p:nvPr/>
        </p:nvCxnSpPr>
        <p:spPr>
          <a:xfrm flipH="1">
            <a:off x="8549640" y="3246120"/>
            <a:ext cx="109728" cy="0"/>
          </a:xfrm>
          <a:prstGeom prst="line">
            <a:avLst/>
          </a:prstGeom>
          <a:ln w="12700">
            <a:solidFill>
              <a:srgbClr val="C0392B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7" name="Rounded Rectangle 126"/>
          <p:cNvSpPr/>
          <p:nvPr/>
        </p:nvSpPr>
        <p:spPr>
          <a:xfrm>
            <a:off x="3831335" y="3959352"/>
            <a:ext cx="2706624" cy="5486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Rounded Rectangle 127"/>
          <p:cNvSpPr/>
          <p:nvPr/>
        </p:nvSpPr>
        <p:spPr>
          <a:xfrm>
            <a:off x="3831335" y="3959352"/>
            <a:ext cx="2706624" cy="256032"/>
          </a:xfrm>
          <a:prstGeom prst="round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TextBox 128"/>
          <p:cNvSpPr txBox="1"/>
          <p:nvPr/>
        </p:nvSpPr>
        <p:spPr>
          <a:xfrm>
            <a:off x="3904487" y="4041648"/>
            <a:ext cx="25603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KILL SWITCH &amp; INCIDENT RESPONSE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3904487" y="4297680"/>
            <a:ext cx="25603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 b="0">
                <a:solidFill>
                  <a:srgbClr val="7F1D1D"/>
                </a:solidFill>
              </a:defRPr>
            </a:pPr>
            <a:r>
              <a:t>Halt agent · Revoke credentials · Preserve state · Audit trail</a:t>
            </a:r>
          </a:p>
        </p:txBody>
      </p:sp>
      <p:sp>
        <p:nvSpPr>
          <p:cNvPr id="131" name="Rounded Rectangle 130"/>
          <p:cNvSpPr/>
          <p:nvPr/>
        </p:nvSpPr>
        <p:spPr>
          <a:xfrm>
            <a:off x="4956048" y="4416552"/>
            <a:ext cx="475488" cy="146304"/>
          </a:xfrm>
          <a:prstGeom prst="roundRect">
            <a:avLst/>
          </a:prstGeom>
          <a:solidFill>
            <a:srgbClr val="C0392B">
              <a:lumMod val="30000"/>
              <a:lumOff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700" b="1">
                <a:solidFill>
                  <a:srgbClr val="C0392B"/>
                </a:solidFill>
              </a:defRPr>
            </a:pPr>
            <a:r>
              <a:t>DER.2.1</a:t>
            </a:r>
          </a:p>
        </p:txBody>
      </p:sp>
      <p:sp>
        <p:nvSpPr>
          <p:cNvPr id="132" name="Rounded Rectangle 131"/>
          <p:cNvSpPr/>
          <p:nvPr/>
        </p:nvSpPr>
        <p:spPr>
          <a:xfrm>
            <a:off x="1856232" y="5586984"/>
            <a:ext cx="8485632" cy="548640"/>
          </a:xfrm>
          <a:prstGeom prst="roundRect">
            <a:avLst/>
          </a:prstGeom>
          <a:solidFill>
            <a:srgbClr val="0017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TextBox 132"/>
          <p:cNvSpPr txBox="1"/>
          <p:nvPr/>
        </p:nvSpPr>
        <p:spPr>
          <a:xfrm>
            <a:off x="3355848" y="5696712"/>
            <a:ext cx="5486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CONTINUOUS MONITORING, AUDIT &amp; OBSERVABILITY</a:t>
            </a:r>
          </a:p>
        </p:txBody>
      </p:sp>
      <p:sp>
        <p:nvSpPr>
          <p:cNvPr id="134" name="Rounded Rectangle 133"/>
          <p:cNvSpPr/>
          <p:nvPr/>
        </p:nvSpPr>
        <p:spPr>
          <a:xfrm>
            <a:off x="3355848" y="5879592"/>
            <a:ext cx="548640" cy="164592"/>
          </a:xfrm>
          <a:prstGeom prst="roundRect">
            <a:avLst/>
          </a:prstGeom>
          <a:solidFill>
            <a:srgbClr val="007EA7">
              <a:lumMod val="30000"/>
              <a:lumOff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700" b="1">
                <a:solidFill>
                  <a:srgbClr val="00A8E8"/>
                </a:solidFill>
              </a:defRPr>
            </a:pPr>
            <a:r>
              <a:t>OPS.1.1.5</a:t>
            </a:r>
          </a:p>
        </p:txBody>
      </p:sp>
      <p:sp>
        <p:nvSpPr>
          <p:cNvPr id="135" name="Rounded Rectangle 134"/>
          <p:cNvSpPr/>
          <p:nvPr/>
        </p:nvSpPr>
        <p:spPr>
          <a:xfrm>
            <a:off x="4087368" y="5879592"/>
            <a:ext cx="475488" cy="164592"/>
          </a:xfrm>
          <a:prstGeom prst="roundRect">
            <a:avLst/>
          </a:prstGeom>
          <a:solidFill>
            <a:srgbClr val="007EA7">
              <a:lumMod val="30000"/>
              <a:lumOff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700" b="1">
                <a:solidFill>
                  <a:srgbClr val="00A8E8"/>
                </a:solidFill>
              </a:defRPr>
            </a:pPr>
            <a:r>
              <a:t>DER.1</a:t>
            </a:r>
          </a:p>
        </p:txBody>
      </p:sp>
      <p:sp>
        <p:nvSpPr>
          <p:cNvPr id="136" name="Rounded Rectangle 135"/>
          <p:cNvSpPr/>
          <p:nvPr/>
        </p:nvSpPr>
        <p:spPr>
          <a:xfrm>
            <a:off x="4727448" y="5879592"/>
            <a:ext cx="475488" cy="164592"/>
          </a:xfrm>
          <a:prstGeom prst="roundRect">
            <a:avLst/>
          </a:prstGeom>
          <a:solidFill>
            <a:srgbClr val="007EA7">
              <a:lumMod val="30000"/>
              <a:lumOff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700" b="1">
                <a:solidFill>
                  <a:srgbClr val="00A8E8"/>
                </a:solidFill>
              </a:defRPr>
            </a:pPr>
            <a:r>
              <a:t>DER.2.1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5413248" y="5925312"/>
            <a:ext cx="3200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 b="0">
                <a:solidFill>
                  <a:srgbClr val="64748B"/>
                </a:solidFill>
              </a:defRPr>
            </a:pPr>
            <a:r>
              <a:t>Token usage · Cost tracking · Anomaly detection · Delegation chains</a:t>
            </a:r>
          </a:p>
        </p:txBody>
      </p:sp>
      <p:cxnSp>
        <p:nvCxnSpPr>
          <p:cNvPr id="138" name="Connector 137"/>
          <p:cNvCxnSpPr/>
          <p:nvPr/>
        </p:nvCxnSpPr>
        <p:spPr>
          <a:xfrm>
            <a:off x="3685032" y="2057400"/>
            <a:ext cx="146303" cy="0"/>
          </a:xfrm>
          <a:prstGeom prst="line">
            <a:avLst/>
          </a:prstGeom>
          <a:ln w="19050">
            <a:solidFill>
              <a:srgbClr val="007EA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9" name="Connector 138"/>
          <p:cNvCxnSpPr/>
          <p:nvPr/>
        </p:nvCxnSpPr>
        <p:spPr>
          <a:xfrm>
            <a:off x="6537960" y="1645920"/>
            <a:ext cx="146304" cy="0"/>
          </a:xfrm>
          <a:prstGeom prst="line">
            <a:avLst/>
          </a:prstGeom>
          <a:ln w="19050">
            <a:solidFill>
              <a:srgbClr val="007EA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0" name="Connector 139"/>
          <p:cNvCxnSpPr/>
          <p:nvPr/>
        </p:nvCxnSpPr>
        <p:spPr>
          <a:xfrm flipH="1">
            <a:off x="6537960" y="1965960"/>
            <a:ext cx="146304" cy="0"/>
          </a:xfrm>
          <a:prstGeom prst="line">
            <a:avLst/>
          </a:prstGeom>
          <a:ln w="19050">
            <a:solidFill>
              <a:srgbClr val="00A8E8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Connector 140"/>
          <p:cNvCxnSpPr/>
          <p:nvPr/>
        </p:nvCxnSpPr>
        <p:spPr>
          <a:xfrm>
            <a:off x="6537960" y="3063240"/>
            <a:ext cx="146304" cy="0"/>
          </a:xfrm>
          <a:prstGeom prst="line">
            <a:avLst/>
          </a:prstGeom>
          <a:ln w="19050">
            <a:solidFill>
              <a:srgbClr val="007EA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2" name="Connector 141"/>
          <p:cNvCxnSpPr/>
          <p:nvPr/>
        </p:nvCxnSpPr>
        <p:spPr>
          <a:xfrm flipH="1">
            <a:off x="6537960" y="3337560"/>
            <a:ext cx="146304" cy="0"/>
          </a:xfrm>
          <a:prstGeom prst="line">
            <a:avLst/>
          </a:prstGeom>
          <a:ln w="19050">
            <a:solidFill>
              <a:srgbClr val="00A8E8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3" name="Connector 142"/>
          <p:cNvCxnSpPr/>
          <p:nvPr/>
        </p:nvCxnSpPr>
        <p:spPr>
          <a:xfrm flipV="1">
            <a:off x="3355848" y="3813048"/>
            <a:ext cx="932688" cy="146304"/>
          </a:xfrm>
          <a:prstGeom prst="line">
            <a:avLst/>
          </a:prstGeom>
          <a:ln w="19050">
            <a:solidFill>
              <a:srgbClr val="00A8E8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4" name="TextBox 143"/>
          <p:cNvSpPr txBox="1"/>
          <p:nvPr/>
        </p:nvSpPr>
        <p:spPr>
          <a:xfrm>
            <a:off x="1856232" y="6291072"/>
            <a:ext cx="2743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 b="1">
                <a:solidFill>
                  <a:srgbClr val="334155"/>
                </a:solidFill>
              </a:defRPr>
            </a:pPr>
            <a:r>
              <a:t>SP-047: Secure Agentic AI Frameworks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1856232" y="6446520"/>
            <a:ext cx="4572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 b="0">
                <a:solidFill>
                  <a:srgbClr val="64748B"/>
                </a:solidFill>
              </a:defRPr>
            </a:pPr>
            <a:r>
              <a:t>12 BSI IT-Grundschutz controls (critical, agentic AI specific)  ·  Authors: Aurelius, Vitruvius  ·  Draft  ·  2026-02-17</a:t>
            </a:r>
          </a:p>
        </p:txBody>
      </p:sp>
      <p:cxnSp>
        <p:nvCxnSpPr>
          <p:cNvPr id="146" name="Connector 145"/>
          <p:cNvCxnSpPr/>
          <p:nvPr/>
        </p:nvCxnSpPr>
        <p:spPr>
          <a:xfrm>
            <a:off x="5952744" y="6446520"/>
            <a:ext cx="292608" cy="0"/>
          </a:xfrm>
          <a:prstGeom prst="line">
            <a:avLst/>
          </a:prstGeom>
          <a:ln w="19050">
            <a:solidFill>
              <a:srgbClr val="0034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7" name="TextBox 146"/>
          <p:cNvSpPr txBox="1"/>
          <p:nvPr/>
        </p:nvSpPr>
        <p:spPr>
          <a:xfrm>
            <a:off x="6300216" y="6414516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50" b="0">
                <a:solidFill>
                  <a:srgbClr val="64748B"/>
                </a:solidFill>
              </a:defRPr>
            </a:pPr>
            <a:r>
              <a:t>Control flow</a:t>
            </a:r>
          </a:p>
        </p:txBody>
      </p:sp>
      <p:cxnSp>
        <p:nvCxnSpPr>
          <p:cNvPr id="148" name="Connector 147"/>
          <p:cNvCxnSpPr/>
          <p:nvPr/>
        </p:nvCxnSpPr>
        <p:spPr>
          <a:xfrm>
            <a:off x="6867144" y="6446520"/>
            <a:ext cx="292608" cy="0"/>
          </a:xfrm>
          <a:prstGeom prst="line">
            <a:avLst/>
          </a:prstGeom>
          <a:ln w="19050">
            <a:solidFill>
              <a:srgbClr val="00A8E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9" name="TextBox 148"/>
          <p:cNvSpPr txBox="1"/>
          <p:nvPr/>
        </p:nvSpPr>
        <p:spPr>
          <a:xfrm>
            <a:off x="7214616" y="6414516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50" b="0">
                <a:solidFill>
                  <a:srgbClr val="64748B"/>
                </a:solidFill>
              </a:defRPr>
            </a:pPr>
            <a:r>
              <a:t>Data / response</a:t>
            </a:r>
          </a:p>
        </p:txBody>
      </p:sp>
      <p:sp>
        <p:nvSpPr>
          <p:cNvPr id="150" name="Rounded Rectangle 149"/>
          <p:cNvSpPr/>
          <p:nvPr/>
        </p:nvSpPr>
        <p:spPr>
          <a:xfrm>
            <a:off x="7872983" y="6373368"/>
            <a:ext cx="365760" cy="146304"/>
          </a:xfrm>
          <a:prstGeom prst="roundRect">
            <a:avLst/>
          </a:prstGeom>
          <a:solidFill>
            <a:srgbClr val="007EA7">
              <a:lumMod val="30000"/>
              <a:lumOff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700" b="1">
                <a:solidFill>
                  <a:srgbClr val="007EA7"/>
                </a:solidFill>
              </a:defRPr>
            </a:pPr>
            <a:r>
              <a:t>BSI.x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8293608" y="6414516"/>
            <a:ext cx="10972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50" b="0">
                <a:solidFill>
                  <a:srgbClr val="64748B"/>
                </a:solidFill>
              </a:defRPr>
            </a:pPr>
            <a:r>
              <a:t>BSI Grundschutz Baustein</a:t>
            </a:r>
          </a:p>
        </p:txBody>
      </p:sp>
      <p:cxnSp>
        <p:nvCxnSpPr>
          <p:cNvPr id="152" name="Connector 151"/>
          <p:cNvCxnSpPr/>
          <p:nvPr/>
        </p:nvCxnSpPr>
        <p:spPr>
          <a:xfrm>
            <a:off x="9299448" y="6446520"/>
            <a:ext cx="292608" cy="0"/>
          </a:xfrm>
          <a:prstGeom prst="line">
            <a:avLst/>
          </a:prstGeom>
          <a:ln w="12700">
            <a:solidFill>
              <a:srgbClr val="C0392B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3" name="TextBox 152"/>
          <p:cNvSpPr txBox="1"/>
          <p:nvPr/>
        </p:nvSpPr>
        <p:spPr>
          <a:xfrm>
            <a:off x="9646920" y="6414516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50" b="0">
                <a:solidFill>
                  <a:srgbClr val="64748B"/>
                </a:solidFill>
              </a:defRPr>
            </a:pPr>
            <a:r>
              <a:t>Threat vector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10341863" y="6409944"/>
            <a:ext cx="14630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</a:defRPr>
            </a:pPr>
            <a:r>
              <a:t>opensecurityarchitecture.org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200" b="1">
                <a:solidFill>
                  <a:srgbClr val="003459"/>
                </a:solidFill>
              </a:defRPr>
            </a:pPr>
            <a:r>
              <a:t>BSI IT-Grundschutz Control Mapping — SP-047 Agentic 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>
                <a:solidFill>
                  <a:srgbClr val="007EA7"/>
                </a:solidFill>
              </a:defRPr>
            </a:pPr>
            <a:r>
              <a:t>Critical controls only — mapped from NIST 800-53 Rev 5 via OSA framework coverage data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371600"/>
          <a:ext cx="10698480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/>
                <a:gridCol w="2011680"/>
                <a:gridCol w="6035040"/>
                <a:gridCol w="1371600"/>
              </a:tblGrid>
              <a:tr h="502920">
                <a:tc>
                  <a:txBody>
                    <a:bodyPr wrap="square"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BSI Baustein</a:t>
                      </a:r>
                    </a:p>
                  </a:txBody>
                  <a:tcPr>
                    <a:solidFill>
                      <a:srgbClr val="00345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Title</a:t>
                      </a:r>
                    </a:p>
                  </a:txBody>
                  <a:tcPr>
                    <a:solidFill>
                      <a:srgbClr val="00345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Agentic AI Relevance</a:t>
                      </a:r>
                    </a:p>
                  </a:txBody>
                  <a:tcPr>
                    <a:solidFill>
                      <a:srgbClr val="00345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NIST 800-53</a:t>
                      </a:r>
                    </a:p>
                  </a:txBody>
                  <a:tcPr>
                    <a:solidFill>
                      <a:srgbClr val="003459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>
                        <a:defRPr sz="1000" b="1">
                          <a:solidFill>
                            <a:srgbClr val="007EA7"/>
                          </a:solidFill>
                        </a:defRPr>
                      </a:pPr>
                      <a:r>
                        <a:t>APP.3.1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l">
                        <a:defRPr sz="900" b="0"/>
                      </a:pPr>
                      <a:r>
                        <a:t>Web Apps &amp; Web Services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475569"/>
                          </a:solidFill>
                        </a:defRPr>
                      </a:pPr>
                      <a:r>
                        <a:t>Covers external service integration, input validation, and web application security controls for agent-to-tool and agent-to-model communication.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64748B"/>
                          </a:solidFill>
                        </a:defRPr>
                      </a:pPr>
                      <a:r>
                        <a:t>SA-09, SI-10</a:t>
                      </a:r>
                    </a:p>
                  </a:txBody>
                  <a:tcPr/>
                </a:tc>
              </a:tr>
              <a:tr h="502920">
                <a:tc>
                  <a:txBody>
                    <a:bodyPr wrap="square"/>
                    <a:lstStyle/>
                    <a:p>
                      <a:pPr algn="l">
                        <a:defRPr sz="1000" b="1">
                          <a:solidFill>
                            <a:srgbClr val="007EA7"/>
                          </a:solidFill>
                        </a:defRPr>
                      </a:pPr>
                      <a:r>
                        <a:t>DER.1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00" b="0"/>
                      </a:pPr>
                      <a:r>
                        <a:t>Security Event Detection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475569"/>
                          </a:solidFill>
                        </a:defRPr>
                      </a:pPr>
                      <a:r>
                        <a:t>Continuous monitoring of agent behaviour, anomaly detection on token usage, API patterns, and resource consumption.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64748B"/>
                          </a:solidFill>
                        </a:defRPr>
                      </a:pPr>
                      <a:r>
                        <a:t>CA-07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>
                        <a:defRPr sz="1000" b="1">
                          <a:solidFill>
                            <a:srgbClr val="007EA7"/>
                          </a:solidFill>
                        </a:defRPr>
                      </a:pPr>
                      <a:r>
                        <a:t>DER.2.1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l">
                        <a:defRPr sz="900" b="0"/>
                      </a:pPr>
                      <a:r>
                        <a:t>Incident Management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475569"/>
                          </a:solidFill>
                        </a:defRPr>
                      </a:pPr>
                      <a:r>
                        <a:t>Agent-specific incident runbooks: kill switch activation, credential revocation, blast radius assessment, audit trail preservation.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64748B"/>
                          </a:solidFill>
                        </a:defRPr>
                      </a:pPr>
                      <a:r>
                        <a:t>IR-04</a:t>
                      </a:r>
                    </a:p>
                  </a:txBody>
                  <a:tcPr/>
                </a:tc>
              </a:tr>
              <a:tr h="502920">
                <a:tc>
                  <a:txBody>
                    <a:bodyPr wrap="square"/>
                    <a:lstStyle/>
                    <a:p>
                      <a:pPr algn="l">
                        <a:defRPr sz="1000" b="1">
                          <a:solidFill>
                            <a:srgbClr val="007EA7"/>
                          </a:solidFill>
                        </a:defRPr>
                      </a:pPr>
                      <a:r>
                        <a:t>NET.1.1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00" b="0"/>
                      </a:pPr>
                      <a:r>
                        <a:t>Network Architecture &amp; Design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475569"/>
                          </a:solidFill>
                        </a:defRPr>
                      </a:pPr>
                      <a:r>
                        <a:t>Network boundary enforcement for agent execution sandboxes — egress whitelisting, infra-level guardrails that agents cannot bypass.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64748B"/>
                          </a:solidFill>
                        </a:defRPr>
                      </a:pPr>
                      <a:r>
                        <a:t>SC-07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>
                        <a:defRPr sz="1000" b="1">
                          <a:solidFill>
                            <a:srgbClr val="007EA7"/>
                          </a:solidFill>
                        </a:defRPr>
                      </a:pPr>
                      <a:r>
                        <a:t>NET.1.2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l">
                        <a:defRPr sz="900" b="0"/>
                      </a:pPr>
                      <a:r>
                        <a:t>Network Management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475569"/>
                          </a:solidFill>
                        </a:defRPr>
                      </a:pPr>
                      <a:r>
                        <a:t>Least functionality for agent runtimes — strip unnecessary capabilities, restrict outbound network, disable shell access unless required.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64748B"/>
                          </a:solidFill>
                        </a:defRPr>
                      </a:pPr>
                      <a:r>
                        <a:t>CM-07</a:t>
                      </a:r>
                    </a:p>
                  </a:txBody>
                  <a:tcPr/>
                </a:tc>
              </a:tr>
              <a:tr h="502920">
                <a:tc>
                  <a:txBody>
                    <a:bodyPr wrap="square"/>
                    <a:lstStyle/>
                    <a:p>
                      <a:pPr algn="l">
                        <a:defRPr sz="1000" b="1">
                          <a:solidFill>
                            <a:srgbClr val="007EA7"/>
                          </a:solidFill>
                        </a:defRPr>
                      </a:pPr>
                      <a:r>
                        <a:t>OPS.1.1.5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00" b="0"/>
                      </a:pPr>
                      <a:r>
                        <a:t>Logging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475569"/>
                          </a:solidFill>
                        </a:defRPr>
                      </a:pPr>
                      <a:r>
                        <a:t>Event logging and audit records for agent sessions — token usage, tool invocations, delegation chains, cost tracking per workflow.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64748B"/>
                          </a:solidFill>
                        </a:defRPr>
                      </a:pPr>
                      <a:r>
                        <a:t>AU-02, AU-03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>
                        <a:defRPr sz="1000" b="1">
                          <a:solidFill>
                            <a:srgbClr val="007EA7"/>
                          </a:solidFill>
                        </a:defRPr>
                      </a:pPr>
                      <a:r>
                        <a:t>ORP.4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l">
                        <a:defRPr sz="900" b="0"/>
                      </a:pPr>
                      <a:r>
                        <a:t>Identity &amp; Access Management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475569"/>
                          </a:solidFill>
                        </a:defRPr>
                      </a:pPr>
                      <a:r>
                        <a:t>Agent identity, access enforcement, least privilege, separation of duties — each agent gets distinct credentials, scoped tool access, proposer ≠ approver.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64748B"/>
                          </a:solidFill>
                        </a:defRPr>
                      </a:pPr>
                      <a:r>
                        <a:t>AC-03, AC-04, AC-05, AC-06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31520" y="63093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94A3B8"/>
                </a:solidFill>
              </a:defRPr>
            </a:pPr>
            <a:r>
              <a:t>opensecurityarchitecture.org  |  Source: data/framework-coverage/bsi-grundschutz.json  |  Draft 2026-02-17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