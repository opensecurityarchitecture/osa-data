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108960"/>
          </a:xfrm>
          <a:prstGeom prst="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73152" cy="1463040"/>
          </a:xfrm>
          <a:prstGeom prst="rect">
            <a:avLst/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A8E8"/>
                </a:solidFill>
              </a:defRPr>
            </a:pPr>
            <a:r>
              <a:t>Open Security Architecture</a:t>
            </a:r>
          </a:p>
          <a:p>
            <a:pPr algn="l">
              <a:defRPr sz="4000" b="1">
                <a:solidFill>
                  <a:srgbClr val="FFFFFF"/>
                </a:solidFill>
              </a:defRPr>
            </a:pPr>
            <a:r>
              <a:t>Pattern Portfolio</a:t>
            </a:r>
          </a:p>
          <a:p>
            <a:pPr algn="l">
              <a:defRPr sz="2800" b="0">
                <a:solidFill>
                  <a:srgbClr val="94A3B8"/>
                </a:solidFill>
              </a:defRPr>
            </a:pPr>
            <a:r>
              <a:t>Executive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SABSA Conceptual Layer — Business Risk &amp; Capability Perspective</a:t>
            </a:r>
          </a:p>
          <a:p>
            <a:pPr algn="l">
              <a:defRPr sz="1200" b="0">
                <a:solidFill>
                  <a:srgbClr val="64748B"/>
                </a:solidFill>
              </a:defRPr>
            </a:pPr>
            <a:r>
              <a:t>48 security patterns mapped to 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opensecurityarchitecture.org  |  Draft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3459"/>
                </a:solidFill>
              </a:defRPr>
            </a:pPr>
            <a:r>
              <a:t>Security Pattern Portfolio — Business Capability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48 patterns across 8 capability domains  |  Each tile = one security pattern  |  Colour = business urgency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Identity &amp;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SP-010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Identity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208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SP-032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Modern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124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SP-033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Passkey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SP-037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Privileged User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02080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SP-044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SaaS Identity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05156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Network &amp; Perimeter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SP-006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Wireless Private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5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SP-007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Wireless Public Hotspot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731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SP-008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Public Web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899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SP-016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DMZ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15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SP-017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Network 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731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SP-029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Zero Trust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8999" y="2167127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SP-046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External Attack Surface Mgmt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05156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Application &amp;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SP-004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SOA Publication &amp; 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423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SP-005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SOA Internal Service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399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SP-012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SDLC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SP-028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DevOps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423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SP-030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API 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3399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SP-041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App Baseline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05156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Protection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SP-003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Privacy Mobile Device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8032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SP-013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Data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79480" y="1399031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SP-019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File Exchange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SP-020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Email TLS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80320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SP-039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Client-Side Encryption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79480" y="1783079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SP-040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Post-Quantum Crypto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5760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&amp; Emerging 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05072"/>
            <a:ext cx="862583" cy="347472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SP-027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Secure AI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02080" y="4005072"/>
            <a:ext cx="862583" cy="347472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SP-045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01240" y="4005072"/>
            <a:ext cx="862583" cy="347472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SP-047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Agentic AI Frameworks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79" y="365760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Operations &amp; Resilience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8999" y="4005072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SP-023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Industrial Control Systems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8159" y="4005072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SP-025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Advanced Monitoring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27319" y="4005072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SP-031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Security Monitoring &amp; Response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8999" y="4389120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SP-034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Cyber Resilience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8159" y="4389120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SP-035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Offensive Security Testing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27319" y="4389120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SP-036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Incident Response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8999" y="4773168"/>
            <a:ext cx="862583" cy="34747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FFFFFF"/>
                </a:solidFill>
              </a:defRPr>
            </a:pPr>
            <a:r>
              <a:t>SP-038</a:t>
            </a:r>
          </a:p>
          <a:p>
            <a:pPr algn="l">
              <a:defRPr sz="600">
                <a:solidFill>
                  <a:srgbClr val="FFFFFF"/>
                </a:solidFill>
              </a:defRPr>
            </a:pPr>
            <a:r>
              <a:t>Vulnerability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59" y="365760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Governance &amp; Compliance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79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SP-014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Awareness &amp; 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54239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SP-018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ISMS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3399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SP-042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Third Party Risk Mgmt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79" y="4389120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SP-043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Security Metrics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657600"/>
            <a:ext cx="2788920" cy="292608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Endpoint &amp; Workplace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SP-001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Client Module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80320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SP-002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Server Module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79480" y="4005072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SP-009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Generic Pattern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81160" y="4389120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SP-011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Cloud Computing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80320" y="4389120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SP-015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Secure Remote Working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079480" y="4389120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SP-021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Realtime Collaboration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81160" y="4773168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SP-022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Board Room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80320" y="4773168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SP-024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iPhone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079480" y="4773168"/>
            <a:ext cx="862583" cy="347472"/>
          </a:xfrm>
          <a:prstGeom prst="roundRect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l">
              <a:defRPr sz="600" b="1">
                <a:solidFill>
                  <a:srgbClr val="003459"/>
                </a:solidFill>
              </a:defRPr>
            </a:pPr>
            <a:r>
              <a:t>SP-026</a:t>
            </a:r>
          </a:p>
          <a:p>
            <a:pPr algn="l">
              <a:defRPr sz="600">
                <a:solidFill>
                  <a:srgbClr val="003459"/>
                </a:solidFill>
              </a:defRPr>
            </a:pPr>
            <a:r>
              <a:t>PCI Full Environment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626364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62453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Emerging / High urgency</a:t>
            </a:r>
          </a:p>
        </p:txBody>
      </p:sp>
      <p:sp>
        <p:nvSpPr>
          <p:cNvPr id="61" name="Oval 60"/>
          <p:cNvSpPr/>
          <p:nvPr/>
        </p:nvSpPr>
        <p:spPr>
          <a:xfrm>
            <a:off x="3200400" y="6263640"/>
            <a:ext cx="137160" cy="137160"/>
          </a:xfrm>
          <a:prstGeom prst="ellipse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01568" y="62453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Active ops priority</a:t>
            </a:r>
          </a:p>
        </p:txBody>
      </p:sp>
      <p:sp>
        <p:nvSpPr>
          <p:cNvPr id="63" name="Oval 62"/>
          <p:cNvSpPr/>
          <p:nvPr/>
        </p:nvSpPr>
        <p:spPr>
          <a:xfrm>
            <a:off x="5943600" y="6263640"/>
            <a:ext cx="137160" cy="137160"/>
          </a:xfrm>
          <a:prstGeom prst="ellipse">
            <a:avLst/>
          </a:prstGeom>
          <a:solidFill>
            <a:srgbClr val="E0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44768" y="62453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Foundational / Steady-state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opensecurityarchitecture.org  |  Colour reflects strategic urgency, not maturity  |  Draft Feb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"/>
            <a:ext cx="54864" cy="7315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A8E8"/>
                </a:solidFill>
              </a:defRPr>
            </a:pPr>
            <a:r>
              <a:t>SP-047</a:t>
            </a:r>
          </a:p>
          <a:p>
            <a:pPr algn="l">
              <a:defRPr sz="2400" b="1">
                <a:solidFill>
                  <a:srgbClr val="FFFFFF"/>
                </a:solidFill>
              </a:defRPr>
            </a:pPr>
            <a:r>
              <a:t>Secure Agentic AI Frameworks</a:t>
            </a:r>
          </a:p>
          <a:p>
            <a:pPr algn="l">
              <a:defRPr sz="1100" b="0">
                <a:solidFill>
                  <a:srgbClr val="94A3B8"/>
                </a:solidFill>
              </a:defRPr>
            </a:pPr>
            <a:r>
              <a:t>Pattern Brief — Executive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EMERGING — HIGH URGENCY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118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Business Risk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What happens without this pattern?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Uncontrolled AI agents accessing enterprise tools, APIs, and data without security guardrails.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Agent goal hijack via prompt injection → unauthorised actions on production systems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Runaway agent costs → unbudgeted API spend (10–100× expected)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Data exfiltration through agent tool chains → regulatory exposure (GDPR, DORA)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Shadow agent deployments outside governance → unknown attack surface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Reputational damage from agent-generated external communications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5384" y="11887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4" y="1188720"/>
            <a:ext cx="361188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2984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Capability Enabled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What can the business do with this pattern?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1783080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Deploy agentic AI at enterprise scale with confidence.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Governed adoption of LangChain, CrewAI, AutoGen for automation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Multi-agent workflows for complex tasks (code review, compliance, analysis)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Safe connection of AI agents to enterprise APIs, databases, code execution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Clear autonomy boundaries: what agents decide vs. what humans approve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Auditable agent actions for regulatory and internal assurance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188720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1188720"/>
            <a:ext cx="3611880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2984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Investment Profile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What does adoption require?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1783080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Complexity: HIGH  |  Effort: 6–12 months to baseline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Container platform (K8s/ECS) for agent execution isolation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Centralised tool registry and MCP server governance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Guardrails tooling (NeMo Guardrails / custom policy engine)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Agent-aware monitoring and observability stack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Security team AI/ML competence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66744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66744"/>
            <a:ext cx="3611880" cy="54864"/>
          </a:xfrm>
          <a:prstGeom prst="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764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Dependencies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What must be in place first?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61104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Prerequisites: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SP-027  Secure AI Integration (individual agent controls)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SP-029  Zero Trust Architecture (network segmentation)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Complementary: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SP-045  AI Governance (policy and ethics layer)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SP-030  API Security (tool endpoint protection)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SP-031  Security Monitoring (detection infrastructure)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  SP-012  Secure SDLC (agent workflow CI/CD)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5384" y="3666744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15384" y="3666744"/>
            <a:ext cx="36118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7764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Residual Risk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What remains after adoption?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4261104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- Non-deterministic agent behaviour — testing reduces but cannot eliminate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Framework supply chain churn — LangChain et al. evolve faster than controls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Novel prompt injection vectors — adversarial research outpaces defences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Multi-agent emergent behaviour — agent interactions can produce unexpected outcomes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Regulatory uncertainty — DORA, EU AI Act interpretations still evolving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666744"/>
            <a:ext cx="36118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3666744"/>
            <a:ext cx="3611880" cy="54864"/>
          </a:xfrm>
          <a:prstGeom prst="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37764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459"/>
                </a:solidFill>
              </a:defRPr>
            </a:pPr>
            <a:r>
              <a:t>Regulatory Relevance</a:t>
            </a:r>
          </a:p>
          <a:p>
            <a:pPr algn="l">
              <a:defRPr sz="800" b="0">
                <a:solidFill>
                  <a:srgbClr val="64748B"/>
                </a:solidFill>
              </a:defRPr>
            </a:pPr>
            <a:r>
              <a:t>Which regulations does this address?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261104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</a:defRPr>
            </a:pPr>
            <a:r>
              <a:t>- EU AI Act — high-risk AI system requirements, transparency, human oversight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DORA — ICT risk management for autonomous AI in financial services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GDPR — data processing by AI agents, automated decision-making (Art. 22)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FINMA guidance — operational risk controls for autonomous systems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NIST AI RMF — Agentic AI Profile (2025)</a:t>
            </a:r>
          </a:p>
          <a:p>
            <a:pPr algn="l">
              <a:defRPr sz="800" b="0">
                <a:solidFill>
                  <a:srgbClr val="334155"/>
                </a:solidFill>
              </a:defRPr>
            </a:pPr>
            <a:r>
              <a:t>- OWASP Top 10 for Agentic Applications (2025)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opensecurityarchitecture.org  |  SABSA Conceptual Layer  |  Draft Feb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